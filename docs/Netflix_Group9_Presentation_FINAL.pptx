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charts/chart1.xml" ContentType="application/vnd.openxmlformats-officedocument.drawingml.char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6" r:id="rId7"/>
    <p:sldId id="267" r:id="rId8"/>
    <p:sldId id="268" r:id="rId9"/>
    <p:sldId id="269" r:id="rId10"/>
    <p:sldId id="270" r:id="rId11"/>
    <p:sldId id="272" r:id="rId12"/>
    <p:sldId id="271" r:id="rId13"/>
    <p:sldId id="273" r:id="rId14"/>
    <p:sldId id="274" r:id="rId15"/>
    <p:sldId id="275" r:id="rId16"/>
    <p:sldId id="276" r:id="rId17"/>
    <p:sldId id="277" r:id="rId18"/>
    <p:sldId id="278"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C1B541-3778-3DFC-95AE-A1A8623AC259}" v="303" dt="2026-08-15T12:33:23.556"/>
    <p1510:client id="{36AA5B22-D851-9A9E-DA19-D9E6C2C39FCC}" v="11" dt="2026-08-15T03:36:22.735"/>
    <p1510:client id="{88E2630C-9ACB-5C78-3234-6F48C5C4F416}" v="1" dt="2026-08-15T12:08:18.904"/>
    <p1510:client id="{A2789135-4A9C-47F1-AC18-C8998C852908}" v="397" dt="2026-08-15T12:13:36.461"/>
    <p1510:client id="{D688ED84-3757-55A4-235B-97C76A11ACF5}" v="3240" dt="2026-08-15T09:25:28.73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oleObject" Target="https://purdue0-my.sharepoint.com/personal/cheema11_purdue_edu/Documents/Netflix_Group9_Presentation_FINAL_BarClustered.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overlay val="0"/>
    </c:title>
    <c:autoTitleDeleted val="0"/>
    <c:plotArea>
      <c:layout/>
      <c:pieChart>
        <c:varyColors val="1"/>
        <c:ser>
          <c:idx val="0"/>
          <c:order val="0"/>
          <c:tx>
            <c:strRef>
              <c:f>Sheet1!$B$1</c:f>
              <c:strCache>
                <c:ptCount val="1"/>
                <c:pt idx="0">
                  <c:v>Retention</c:v>
                </c:pt>
              </c:strCache>
            </c:strRef>
          </c:tx>
          <c:dPt>
            <c:idx val="0"/>
            <c:bubble3D val="0"/>
            <c:spPr>
              <a:solidFill>
                <a:srgbClr val="1F3864"/>
              </a:solidFill>
            </c:spPr>
            <c:extLst>
              <c:ext xmlns:c16="http://schemas.microsoft.com/office/drawing/2014/chart" uri="{C3380CC4-5D6E-409C-BE32-E72D297353CC}">
                <c16:uniqueId val="{00000001-64CF-4ABF-91A3-4539F549AA8C}"/>
              </c:ext>
            </c:extLst>
          </c:dPt>
          <c:dPt>
            <c:idx val="1"/>
            <c:bubble3D val="0"/>
            <c:spPr>
              <a:solidFill>
                <a:srgbClr val="C06A3A"/>
              </a:solidFill>
            </c:spPr>
            <c:extLst>
              <c:ext xmlns:c16="http://schemas.microsoft.com/office/drawing/2014/chart" uri="{C3380CC4-5D6E-409C-BE32-E72D297353CC}">
                <c16:uniqueId val="{00000003-64CF-4ABF-91A3-4539F549AA8C}"/>
              </c:ext>
            </c:extLst>
          </c:dPt>
          <c:dLbls>
            <c:numFmt formatCode="0.0&quot;%&quot;" sourceLinked="0"/>
            <c:spPr>
              <a:noFill/>
              <a:ln>
                <a:noFill/>
              </a:ln>
              <a:effectLst/>
            </c:spPr>
            <c:txPr>
              <a:bodyPr/>
              <a:lstStyle/>
              <a:p>
                <a:pPr>
                  <a:defRPr sz="1200"/>
                </a:pPr>
                <a:endParaRPr lang="en-US"/>
              </a:p>
            </c:txPr>
            <c:showLegendKey val="0"/>
            <c:showVal val="1"/>
            <c:showCatName val="0"/>
            <c:showSerName val="0"/>
            <c:showPercent val="0"/>
            <c:showBubbleSize val="0"/>
            <c:showLeaderLines val="1"/>
            <c:extLst>
              <c:ext xmlns:c15="http://schemas.microsoft.com/office/drawing/2012/chart" uri="{CE6537A1-D6FC-4f65-9D91-7224C49458BB}"/>
            </c:extLst>
          </c:dLbls>
          <c:cat>
            <c:strRef>
              <c:f>Sheet1!$A$2:$A$3</c:f>
              <c:strCache>
                <c:ptCount val="2"/>
                <c:pt idx="0">
                  <c:v>High Retention (≥70%)</c:v>
                </c:pt>
                <c:pt idx="1">
                  <c:v>Low Retention (&lt;70%)</c:v>
                </c:pt>
              </c:strCache>
            </c:strRef>
          </c:cat>
          <c:val>
            <c:numRef>
              <c:f>Sheet1!$B$2:$B$3</c:f>
              <c:numCache>
                <c:formatCode>General</c:formatCode>
                <c:ptCount val="2"/>
                <c:pt idx="0">
                  <c:v>72.2</c:v>
                </c:pt>
                <c:pt idx="1">
                  <c:v>27.8</c:v>
                </c:pt>
              </c:numCache>
            </c:numRef>
          </c:val>
          <c:extLst>
            <c:ext xmlns:c16="http://schemas.microsoft.com/office/drawing/2014/chart" uri="{C3380CC4-5D6E-409C-BE32-E72D297353CC}">
              <c16:uniqueId val="{00000004-64CF-4ABF-91A3-4539F549AA8C}"/>
            </c:ext>
          </c:extLst>
        </c:ser>
        <c:dLbls>
          <c:showLegendKey val="0"/>
          <c:showVal val="1"/>
          <c:showCatName val="0"/>
          <c:showSerName val="0"/>
          <c:showPercent val="0"/>
          <c:showBubbleSize val="0"/>
          <c:showLeaderLines val="1"/>
        </c:dLbls>
        <c:firstSliceAng val="0"/>
      </c:pieChart>
    </c:plotArea>
    <c:legend>
      <c:legendPos val="b"/>
      <c:overlay val="0"/>
    </c:legend>
    <c:plotVisOnly val="1"/>
    <c:dispBlanksAs val="gap"/>
    <c:showDLblsOverMax val="1"/>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t>Regression vs. Median Baseline</a:t>
            </a:r>
          </a:p>
        </c:rich>
      </c:tx>
      <c:layout>
        <c:manualLayout>
          <c:xMode val="edge"/>
          <c:yMode val="edge"/>
          <c:x val="0.30153917189076695"/>
          <c:y val="2.9462760569653818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Sheet1!$B$1</c:f>
              <c:strCache>
                <c:ptCount val="1"/>
                <c:pt idx="0">
                  <c:v>Model</c:v>
                </c:pt>
              </c:strCache>
            </c:strRef>
          </c:tx>
          <c:spPr>
            <a:solidFill>
              <a:schemeClr val="accent1"/>
            </a:solidFill>
            <a:ln>
              <a:noFill/>
            </a:ln>
            <a:effectLst/>
          </c:spPr>
          <c:invertIfNegative val="0"/>
          <c:cat>
            <c:strRef>
              <c:f>Sheet1!$A$2:$A$3</c:f>
              <c:strCache>
                <c:ptCount val="2"/>
                <c:pt idx="0">
                  <c:v>MAE</c:v>
                </c:pt>
                <c:pt idx="1">
                  <c:v>RMSE</c:v>
                </c:pt>
              </c:strCache>
            </c:strRef>
          </c:cat>
          <c:val>
            <c:numRef>
              <c:f>Sheet1!$B$2:$B$3</c:f>
              <c:numCache>
                <c:formatCode>General</c:formatCode>
                <c:ptCount val="2"/>
                <c:pt idx="0">
                  <c:v>26.9</c:v>
                </c:pt>
                <c:pt idx="1">
                  <c:v>55.27</c:v>
                </c:pt>
              </c:numCache>
            </c:numRef>
          </c:val>
          <c:extLst>
            <c:ext xmlns:c16="http://schemas.microsoft.com/office/drawing/2014/chart" uri="{C3380CC4-5D6E-409C-BE32-E72D297353CC}">
              <c16:uniqueId val="{00000000-BFAB-4857-94C0-2E673C7BECC5}"/>
            </c:ext>
          </c:extLst>
        </c:ser>
        <c:ser>
          <c:idx val="1"/>
          <c:order val="1"/>
          <c:tx>
            <c:strRef>
              <c:f>Sheet1!$C$1</c:f>
              <c:strCache>
                <c:ptCount val="1"/>
                <c:pt idx="0">
                  <c:v>Baseline</c:v>
                </c:pt>
              </c:strCache>
            </c:strRef>
          </c:tx>
          <c:spPr>
            <a:solidFill>
              <a:srgbClr val="0F9ED5"/>
            </a:solidFill>
            <a:ln>
              <a:noFill/>
            </a:ln>
            <a:effectLst/>
          </c:spPr>
          <c:invertIfNegative val="0"/>
          <c:cat>
            <c:strRef>
              <c:f>Sheet1!$A$2:$A$3</c:f>
              <c:strCache>
                <c:ptCount val="2"/>
                <c:pt idx="0">
                  <c:v>MAE</c:v>
                </c:pt>
                <c:pt idx="1">
                  <c:v>RMSE</c:v>
                </c:pt>
              </c:strCache>
            </c:strRef>
          </c:cat>
          <c:val>
            <c:numRef>
              <c:f>Sheet1!$C$2:$C$3</c:f>
              <c:numCache>
                <c:formatCode>General</c:formatCode>
                <c:ptCount val="2"/>
                <c:pt idx="0">
                  <c:v>25.01</c:v>
                </c:pt>
                <c:pt idx="1">
                  <c:v>55.67</c:v>
                </c:pt>
              </c:numCache>
            </c:numRef>
          </c:val>
          <c:extLst>
            <c:ext xmlns:c16="http://schemas.microsoft.com/office/drawing/2014/chart" uri="{C3380CC4-5D6E-409C-BE32-E72D297353CC}">
              <c16:uniqueId val="{00000001-BFAB-4857-94C0-2E673C7BECC5}"/>
            </c:ext>
          </c:extLst>
        </c:ser>
        <c:dLbls>
          <c:showLegendKey val="0"/>
          <c:showVal val="0"/>
          <c:showCatName val="0"/>
          <c:showSerName val="0"/>
          <c:showPercent val="0"/>
          <c:showBubbleSize val="0"/>
        </c:dLbls>
        <c:gapWidth val="182"/>
        <c:axId val="602143824"/>
        <c:axId val="602139024"/>
      </c:barChart>
      <c:catAx>
        <c:axId val="60214382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02139024"/>
        <c:crosses val="autoZero"/>
        <c:auto val="1"/>
        <c:lblAlgn val="ctr"/>
        <c:lblOffset val="100"/>
        <c:noMultiLvlLbl val="0"/>
      </c:catAx>
      <c:valAx>
        <c:axId val="602139024"/>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0214382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3">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2260467-11E8-4CC0-97FA-0A0812F5C7AF}" type="doc">
      <dgm:prSet loTypeId="urn:microsoft.com/office/officeart/2005/8/layout/vList2" loCatId="list" qsTypeId="urn:microsoft.com/office/officeart/2005/8/quickstyle/simple2#1" qsCatId="simple" csTypeId="urn:microsoft.com/office/officeart/2005/8/colors/accent1_2#3" csCatId="accent1" phldr="1"/>
      <dgm:spPr/>
    </dgm:pt>
    <dgm:pt modelId="{243ED2EE-18BD-488E-AF54-D1CDD09557E2}">
      <dgm:prSet phldrT="[Text]" phldr="0"/>
      <dgm:spPr/>
      <dgm:t>
        <a:bodyPr/>
        <a:lstStyle/>
        <a:p>
          <a:pPr rtl="0"/>
          <a:r>
            <a:rPr lang="en-US">
              <a:latin typeface="Aptos Display" panose="02110004020202020204"/>
            </a:rPr>
            <a:t>Data (Netflix and IMDb)</a:t>
          </a:r>
          <a:endParaRPr lang="en-US"/>
        </a:p>
      </dgm:t>
    </dgm:pt>
    <dgm:pt modelId="{50614DD4-DFD1-4480-A873-0BBC5382FAE3}" type="parTrans" cxnId="{51494D05-0F98-478E-87AF-8C34888C9413}">
      <dgm:prSet/>
      <dgm:spPr/>
    </dgm:pt>
    <dgm:pt modelId="{17FC87BB-6782-48C1-AC93-E0F90F6DA0C9}" type="sibTrans" cxnId="{51494D05-0F98-478E-87AF-8C34888C9413}">
      <dgm:prSet/>
      <dgm:spPr/>
    </dgm:pt>
    <dgm:pt modelId="{9BC9C574-EB5B-4E75-94CB-824F0D35CD37}">
      <dgm:prSet phldrT="[Text]" phldr="0"/>
      <dgm:spPr/>
      <dgm:t>
        <a:bodyPr/>
        <a:lstStyle/>
        <a:p>
          <a:pPr rtl="0"/>
          <a:r>
            <a:rPr lang="en-US">
              <a:latin typeface="Aptos Display" panose="02110004020202020204"/>
            </a:rPr>
            <a:t>Filter and Pair Seasons</a:t>
          </a:r>
          <a:endParaRPr lang="en-US"/>
        </a:p>
      </dgm:t>
    </dgm:pt>
    <dgm:pt modelId="{9FD5D663-9710-4DBC-BF5C-1C2F4B435EC0}" type="parTrans" cxnId="{2FC6CB4E-C515-42A9-A6DA-D05DEA86BD34}">
      <dgm:prSet/>
      <dgm:spPr/>
    </dgm:pt>
    <dgm:pt modelId="{A9B8976F-BBCC-48C2-80D1-F885942FB660}" type="sibTrans" cxnId="{2FC6CB4E-C515-42A9-A6DA-D05DEA86BD34}">
      <dgm:prSet/>
      <dgm:spPr/>
    </dgm:pt>
    <dgm:pt modelId="{F21A7365-CCC5-4956-9998-BF28436CE8BA}">
      <dgm:prSet phldrT="[Text]" phldr="0"/>
      <dgm:spPr/>
      <dgm:t>
        <a:bodyPr/>
        <a:lstStyle/>
        <a:p>
          <a:pPr rtl="0"/>
          <a:r>
            <a:rPr lang="en-US">
              <a:latin typeface="Aptos Display" panose="02110004020202020204"/>
            </a:rPr>
            <a:t>Retention Model</a:t>
          </a:r>
          <a:endParaRPr lang="en-US"/>
        </a:p>
      </dgm:t>
    </dgm:pt>
    <dgm:pt modelId="{BAD08727-3604-4865-8875-5657C9033F6A}" type="parTrans" cxnId="{8D58C991-3220-4EF9-B25B-16EEB41F3720}">
      <dgm:prSet/>
      <dgm:spPr/>
    </dgm:pt>
    <dgm:pt modelId="{25582C31-7F02-4B8F-AF6A-4F6C8737478A}" type="sibTrans" cxnId="{8D58C991-3220-4EF9-B25B-16EEB41F3720}">
      <dgm:prSet/>
      <dgm:spPr/>
    </dgm:pt>
    <dgm:pt modelId="{36E3E2A1-C7D8-43D5-B3C0-373FE2261DDE}">
      <dgm:prSet phldrT="[Text]" phldr="0"/>
      <dgm:spPr/>
      <dgm:t>
        <a:bodyPr/>
        <a:lstStyle/>
        <a:p>
          <a:pPr rtl="0"/>
          <a:r>
            <a:rPr lang="en-US">
              <a:latin typeface="Aptos Display" panose="02110004020202020204"/>
            </a:rPr>
            <a:t>Train / Test split 70% and 30%</a:t>
          </a:r>
        </a:p>
      </dgm:t>
    </dgm:pt>
    <dgm:pt modelId="{E78EF474-AEF4-4403-AA42-3BC4A57646E5}" type="parTrans" cxnId="{6232BE5E-93CC-47C1-88BF-1878E3C27378}">
      <dgm:prSet/>
      <dgm:spPr/>
    </dgm:pt>
    <dgm:pt modelId="{84ACEBF3-C73F-40EC-AD11-4D1754DB9D3F}" type="sibTrans" cxnId="{6232BE5E-93CC-47C1-88BF-1878E3C27378}">
      <dgm:prSet/>
      <dgm:spPr/>
    </dgm:pt>
    <dgm:pt modelId="{31F067CD-CCC6-4D37-8959-25964A082171}">
      <dgm:prSet phldrT="[Text]" phldr="0"/>
      <dgm:spPr/>
      <dgm:t>
        <a:bodyPr/>
        <a:lstStyle/>
        <a:p>
          <a:pPr rtl="0"/>
          <a:r>
            <a:rPr lang="en-US">
              <a:latin typeface="Aptos Display" panose="02110004020202020204"/>
            </a:rPr>
            <a:t>Model and Evaluate</a:t>
          </a:r>
        </a:p>
      </dgm:t>
    </dgm:pt>
    <dgm:pt modelId="{30813088-8B7D-4229-B3F5-6E6956DB1FDF}" type="parTrans" cxnId="{AC89D884-6812-46A8-8DB4-677341B9702C}">
      <dgm:prSet/>
      <dgm:spPr/>
    </dgm:pt>
    <dgm:pt modelId="{37910735-F15D-4DD0-8593-BE1659576586}" type="sibTrans" cxnId="{AC89D884-6812-46A8-8DB4-677341B9702C}">
      <dgm:prSet/>
      <dgm:spPr/>
    </dgm:pt>
    <dgm:pt modelId="{27A455E6-08D7-422F-929E-F48DBB3A35AD}" type="pres">
      <dgm:prSet presAssocID="{F2260467-11E8-4CC0-97FA-0A0812F5C7AF}" presName="linear" presStyleCnt="0">
        <dgm:presLayoutVars>
          <dgm:animLvl val="lvl"/>
          <dgm:resizeHandles val="exact"/>
        </dgm:presLayoutVars>
      </dgm:prSet>
      <dgm:spPr/>
    </dgm:pt>
    <dgm:pt modelId="{BE5C2186-7440-4175-9DF9-0A63BE7B116B}" type="pres">
      <dgm:prSet presAssocID="{243ED2EE-18BD-488E-AF54-D1CDD09557E2}" presName="parentText" presStyleLbl="node1" presStyleIdx="0" presStyleCnt="5">
        <dgm:presLayoutVars>
          <dgm:chMax val="0"/>
          <dgm:bulletEnabled val="1"/>
        </dgm:presLayoutVars>
      </dgm:prSet>
      <dgm:spPr/>
    </dgm:pt>
    <dgm:pt modelId="{A29080BF-4905-49FE-BFC6-977773094CE8}" type="pres">
      <dgm:prSet presAssocID="{17FC87BB-6782-48C1-AC93-E0F90F6DA0C9}" presName="spacer" presStyleCnt="0"/>
      <dgm:spPr/>
    </dgm:pt>
    <dgm:pt modelId="{47B73755-BAEB-46A4-B951-A90DD48B6861}" type="pres">
      <dgm:prSet presAssocID="{9BC9C574-EB5B-4E75-94CB-824F0D35CD37}" presName="parentText" presStyleLbl="node1" presStyleIdx="1" presStyleCnt="5">
        <dgm:presLayoutVars>
          <dgm:chMax val="0"/>
          <dgm:bulletEnabled val="1"/>
        </dgm:presLayoutVars>
      </dgm:prSet>
      <dgm:spPr/>
    </dgm:pt>
    <dgm:pt modelId="{1BB9619D-8A38-49BC-A99D-EB15707D649B}" type="pres">
      <dgm:prSet presAssocID="{A9B8976F-BBCC-48C2-80D1-F885942FB660}" presName="spacer" presStyleCnt="0"/>
      <dgm:spPr/>
    </dgm:pt>
    <dgm:pt modelId="{A0B4D1E2-3039-4B60-9DA4-482352C4F002}" type="pres">
      <dgm:prSet presAssocID="{F21A7365-CCC5-4956-9998-BF28436CE8BA}" presName="parentText" presStyleLbl="node1" presStyleIdx="2" presStyleCnt="5">
        <dgm:presLayoutVars>
          <dgm:chMax val="0"/>
          <dgm:bulletEnabled val="1"/>
        </dgm:presLayoutVars>
      </dgm:prSet>
      <dgm:spPr/>
    </dgm:pt>
    <dgm:pt modelId="{EE0E2AB6-83D4-404C-9709-B44E847D9F03}" type="pres">
      <dgm:prSet presAssocID="{25582C31-7F02-4B8F-AF6A-4F6C8737478A}" presName="spacer" presStyleCnt="0"/>
      <dgm:spPr/>
    </dgm:pt>
    <dgm:pt modelId="{AC2AC256-F878-40D7-A933-FE8F62017F7C}" type="pres">
      <dgm:prSet presAssocID="{36E3E2A1-C7D8-43D5-B3C0-373FE2261DDE}" presName="parentText" presStyleLbl="node1" presStyleIdx="3" presStyleCnt="5">
        <dgm:presLayoutVars>
          <dgm:chMax val="0"/>
          <dgm:bulletEnabled val="1"/>
        </dgm:presLayoutVars>
      </dgm:prSet>
      <dgm:spPr/>
    </dgm:pt>
    <dgm:pt modelId="{C776B5E0-C3DA-414D-A85C-E625BCDE4D22}" type="pres">
      <dgm:prSet presAssocID="{84ACEBF3-C73F-40EC-AD11-4D1754DB9D3F}" presName="spacer" presStyleCnt="0"/>
      <dgm:spPr/>
    </dgm:pt>
    <dgm:pt modelId="{131F5711-208D-4FC5-A2D3-B1A82678F4E1}" type="pres">
      <dgm:prSet presAssocID="{31F067CD-CCC6-4D37-8959-25964A082171}" presName="parentText" presStyleLbl="node1" presStyleIdx="4" presStyleCnt="5">
        <dgm:presLayoutVars>
          <dgm:chMax val="0"/>
          <dgm:bulletEnabled val="1"/>
        </dgm:presLayoutVars>
      </dgm:prSet>
      <dgm:spPr/>
    </dgm:pt>
  </dgm:ptLst>
  <dgm:cxnLst>
    <dgm:cxn modelId="{51494D05-0F98-478E-87AF-8C34888C9413}" srcId="{F2260467-11E8-4CC0-97FA-0A0812F5C7AF}" destId="{243ED2EE-18BD-488E-AF54-D1CDD09557E2}" srcOrd="0" destOrd="0" parTransId="{50614DD4-DFD1-4480-A873-0BBC5382FAE3}" sibTransId="{17FC87BB-6782-48C1-AC93-E0F90F6DA0C9}"/>
    <dgm:cxn modelId="{C38DC931-75BD-443D-B2FE-2ABC9AC42438}" type="presOf" srcId="{36E3E2A1-C7D8-43D5-B3C0-373FE2261DDE}" destId="{AC2AC256-F878-40D7-A933-FE8F62017F7C}" srcOrd="0" destOrd="0" presId="urn:microsoft.com/office/officeart/2005/8/layout/vList2"/>
    <dgm:cxn modelId="{6232BE5E-93CC-47C1-88BF-1878E3C27378}" srcId="{F2260467-11E8-4CC0-97FA-0A0812F5C7AF}" destId="{36E3E2A1-C7D8-43D5-B3C0-373FE2261DDE}" srcOrd="3" destOrd="0" parTransId="{E78EF474-AEF4-4403-AA42-3BC4A57646E5}" sibTransId="{84ACEBF3-C73F-40EC-AD11-4D1754DB9D3F}"/>
    <dgm:cxn modelId="{2FC6CB4E-C515-42A9-A6DA-D05DEA86BD34}" srcId="{F2260467-11E8-4CC0-97FA-0A0812F5C7AF}" destId="{9BC9C574-EB5B-4E75-94CB-824F0D35CD37}" srcOrd="1" destOrd="0" parTransId="{9FD5D663-9710-4DBC-BF5C-1C2F4B435EC0}" sibTransId="{A9B8976F-BBCC-48C2-80D1-F885942FB660}"/>
    <dgm:cxn modelId="{8BB04776-A2FF-45ED-9FE0-30CF88C68332}" type="presOf" srcId="{243ED2EE-18BD-488E-AF54-D1CDD09557E2}" destId="{BE5C2186-7440-4175-9DF9-0A63BE7B116B}" srcOrd="0" destOrd="0" presId="urn:microsoft.com/office/officeart/2005/8/layout/vList2"/>
    <dgm:cxn modelId="{4303B377-B46B-4769-8486-D8EFF746B417}" type="presOf" srcId="{F21A7365-CCC5-4956-9998-BF28436CE8BA}" destId="{A0B4D1E2-3039-4B60-9DA4-482352C4F002}" srcOrd="0" destOrd="0" presId="urn:microsoft.com/office/officeart/2005/8/layout/vList2"/>
    <dgm:cxn modelId="{AC89D884-6812-46A8-8DB4-677341B9702C}" srcId="{F2260467-11E8-4CC0-97FA-0A0812F5C7AF}" destId="{31F067CD-CCC6-4D37-8959-25964A082171}" srcOrd="4" destOrd="0" parTransId="{30813088-8B7D-4229-B3F5-6E6956DB1FDF}" sibTransId="{37910735-F15D-4DD0-8593-BE1659576586}"/>
    <dgm:cxn modelId="{8D58C991-3220-4EF9-B25B-16EEB41F3720}" srcId="{F2260467-11E8-4CC0-97FA-0A0812F5C7AF}" destId="{F21A7365-CCC5-4956-9998-BF28436CE8BA}" srcOrd="2" destOrd="0" parTransId="{BAD08727-3604-4865-8875-5657C9033F6A}" sibTransId="{25582C31-7F02-4B8F-AF6A-4F6C8737478A}"/>
    <dgm:cxn modelId="{B9DD90B5-82C5-4B09-898E-562CBF4C3B05}" type="presOf" srcId="{31F067CD-CCC6-4D37-8959-25964A082171}" destId="{131F5711-208D-4FC5-A2D3-B1A82678F4E1}" srcOrd="0" destOrd="0" presId="urn:microsoft.com/office/officeart/2005/8/layout/vList2"/>
    <dgm:cxn modelId="{53312EDE-4DD9-4543-9B3A-742F027E2A10}" type="presOf" srcId="{F2260467-11E8-4CC0-97FA-0A0812F5C7AF}" destId="{27A455E6-08D7-422F-929E-F48DBB3A35AD}" srcOrd="0" destOrd="0" presId="urn:microsoft.com/office/officeart/2005/8/layout/vList2"/>
    <dgm:cxn modelId="{470B63EE-2B86-4B91-97A6-565521CDAD48}" type="presOf" srcId="{9BC9C574-EB5B-4E75-94CB-824F0D35CD37}" destId="{47B73755-BAEB-46A4-B951-A90DD48B6861}" srcOrd="0" destOrd="0" presId="urn:microsoft.com/office/officeart/2005/8/layout/vList2"/>
    <dgm:cxn modelId="{83A4E588-C822-43E3-AD62-8A537C29B747}" type="presParOf" srcId="{27A455E6-08D7-422F-929E-F48DBB3A35AD}" destId="{BE5C2186-7440-4175-9DF9-0A63BE7B116B}" srcOrd="0" destOrd="0" presId="urn:microsoft.com/office/officeart/2005/8/layout/vList2"/>
    <dgm:cxn modelId="{023B25D0-5095-4365-BE02-FF556C474D06}" type="presParOf" srcId="{27A455E6-08D7-422F-929E-F48DBB3A35AD}" destId="{A29080BF-4905-49FE-BFC6-977773094CE8}" srcOrd="1" destOrd="0" presId="urn:microsoft.com/office/officeart/2005/8/layout/vList2"/>
    <dgm:cxn modelId="{E0E3C258-3682-42B8-85B8-DCAD3E8D6E25}" type="presParOf" srcId="{27A455E6-08D7-422F-929E-F48DBB3A35AD}" destId="{47B73755-BAEB-46A4-B951-A90DD48B6861}" srcOrd="2" destOrd="0" presId="urn:microsoft.com/office/officeart/2005/8/layout/vList2"/>
    <dgm:cxn modelId="{8B5755B5-E938-4FB6-A10A-73B61CC6DE65}" type="presParOf" srcId="{27A455E6-08D7-422F-929E-F48DBB3A35AD}" destId="{1BB9619D-8A38-49BC-A99D-EB15707D649B}" srcOrd="3" destOrd="0" presId="urn:microsoft.com/office/officeart/2005/8/layout/vList2"/>
    <dgm:cxn modelId="{08FCD959-CED9-4BB7-AC72-053B51971F46}" type="presParOf" srcId="{27A455E6-08D7-422F-929E-F48DBB3A35AD}" destId="{A0B4D1E2-3039-4B60-9DA4-482352C4F002}" srcOrd="4" destOrd="0" presId="urn:microsoft.com/office/officeart/2005/8/layout/vList2"/>
    <dgm:cxn modelId="{6F304242-4F57-4B70-B845-BF8EAF25A427}" type="presParOf" srcId="{27A455E6-08D7-422F-929E-F48DBB3A35AD}" destId="{EE0E2AB6-83D4-404C-9709-B44E847D9F03}" srcOrd="5" destOrd="0" presId="urn:microsoft.com/office/officeart/2005/8/layout/vList2"/>
    <dgm:cxn modelId="{9D3E2840-98EE-4000-A7AF-726217E92280}" type="presParOf" srcId="{27A455E6-08D7-422F-929E-F48DBB3A35AD}" destId="{AC2AC256-F878-40D7-A933-FE8F62017F7C}" srcOrd="6" destOrd="0" presId="urn:microsoft.com/office/officeart/2005/8/layout/vList2"/>
    <dgm:cxn modelId="{29BFCD76-CEBB-4FA7-9785-CE68ED06136A}" type="presParOf" srcId="{27A455E6-08D7-422F-929E-F48DBB3A35AD}" destId="{C776B5E0-C3DA-414D-A85C-E625BCDE4D22}" srcOrd="7" destOrd="0" presId="urn:microsoft.com/office/officeart/2005/8/layout/vList2"/>
    <dgm:cxn modelId="{7E2DA495-B5F4-4D34-959D-235A7E4BAE84}" type="presParOf" srcId="{27A455E6-08D7-422F-929E-F48DBB3A35AD}" destId="{131F5711-208D-4FC5-A2D3-B1A82678F4E1}"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5C2186-7440-4175-9DF9-0A63BE7B116B}">
      <dsp:nvSpPr>
        <dsp:cNvPr id="0" name=""/>
        <dsp:cNvSpPr/>
      </dsp:nvSpPr>
      <dsp:spPr>
        <a:xfrm>
          <a:off x="0" y="16698"/>
          <a:ext cx="10981137" cy="76167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rtl="0">
            <a:lnSpc>
              <a:spcPct val="90000"/>
            </a:lnSpc>
            <a:spcBef>
              <a:spcPct val="0"/>
            </a:spcBef>
            <a:spcAft>
              <a:spcPct val="35000"/>
            </a:spcAft>
            <a:buNone/>
          </a:pPr>
          <a:r>
            <a:rPr lang="en-US" sz="3100" kern="1200">
              <a:latin typeface="Aptos Display" panose="02110004020202020204"/>
            </a:rPr>
            <a:t>Data (Netflix and IMDb)</a:t>
          </a:r>
          <a:endParaRPr lang="en-US" sz="3100" kern="1200"/>
        </a:p>
      </dsp:txBody>
      <dsp:txXfrm>
        <a:off x="37182" y="53880"/>
        <a:ext cx="10906773" cy="687306"/>
      </dsp:txXfrm>
    </dsp:sp>
    <dsp:sp modelId="{47B73755-BAEB-46A4-B951-A90DD48B6861}">
      <dsp:nvSpPr>
        <dsp:cNvPr id="0" name=""/>
        <dsp:cNvSpPr/>
      </dsp:nvSpPr>
      <dsp:spPr>
        <a:xfrm>
          <a:off x="0" y="867648"/>
          <a:ext cx="10981137" cy="76167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rtl="0">
            <a:lnSpc>
              <a:spcPct val="90000"/>
            </a:lnSpc>
            <a:spcBef>
              <a:spcPct val="0"/>
            </a:spcBef>
            <a:spcAft>
              <a:spcPct val="35000"/>
            </a:spcAft>
            <a:buNone/>
          </a:pPr>
          <a:r>
            <a:rPr lang="en-US" sz="3100" kern="1200">
              <a:latin typeface="Aptos Display" panose="02110004020202020204"/>
            </a:rPr>
            <a:t>Filter and Pair Seasons</a:t>
          </a:r>
          <a:endParaRPr lang="en-US" sz="3100" kern="1200"/>
        </a:p>
      </dsp:txBody>
      <dsp:txXfrm>
        <a:off x="37182" y="904830"/>
        <a:ext cx="10906773" cy="687306"/>
      </dsp:txXfrm>
    </dsp:sp>
    <dsp:sp modelId="{A0B4D1E2-3039-4B60-9DA4-482352C4F002}">
      <dsp:nvSpPr>
        <dsp:cNvPr id="0" name=""/>
        <dsp:cNvSpPr/>
      </dsp:nvSpPr>
      <dsp:spPr>
        <a:xfrm>
          <a:off x="0" y="1718598"/>
          <a:ext cx="10981137" cy="76167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rtl="0">
            <a:lnSpc>
              <a:spcPct val="90000"/>
            </a:lnSpc>
            <a:spcBef>
              <a:spcPct val="0"/>
            </a:spcBef>
            <a:spcAft>
              <a:spcPct val="35000"/>
            </a:spcAft>
            <a:buNone/>
          </a:pPr>
          <a:r>
            <a:rPr lang="en-US" sz="3100" kern="1200">
              <a:latin typeface="Aptos Display" panose="02110004020202020204"/>
            </a:rPr>
            <a:t>Retention Model</a:t>
          </a:r>
          <a:endParaRPr lang="en-US" sz="3100" kern="1200"/>
        </a:p>
      </dsp:txBody>
      <dsp:txXfrm>
        <a:off x="37182" y="1755780"/>
        <a:ext cx="10906773" cy="687306"/>
      </dsp:txXfrm>
    </dsp:sp>
    <dsp:sp modelId="{AC2AC256-F878-40D7-A933-FE8F62017F7C}">
      <dsp:nvSpPr>
        <dsp:cNvPr id="0" name=""/>
        <dsp:cNvSpPr/>
      </dsp:nvSpPr>
      <dsp:spPr>
        <a:xfrm>
          <a:off x="0" y="2569548"/>
          <a:ext cx="10981137" cy="76167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rtl="0">
            <a:lnSpc>
              <a:spcPct val="90000"/>
            </a:lnSpc>
            <a:spcBef>
              <a:spcPct val="0"/>
            </a:spcBef>
            <a:spcAft>
              <a:spcPct val="35000"/>
            </a:spcAft>
            <a:buNone/>
          </a:pPr>
          <a:r>
            <a:rPr lang="en-US" sz="3100" kern="1200">
              <a:latin typeface="Aptos Display" panose="02110004020202020204"/>
            </a:rPr>
            <a:t>Train / Test split 70% and 30%</a:t>
          </a:r>
        </a:p>
      </dsp:txBody>
      <dsp:txXfrm>
        <a:off x="37182" y="2606730"/>
        <a:ext cx="10906773" cy="687306"/>
      </dsp:txXfrm>
    </dsp:sp>
    <dsp:sp modelId="{131F5711-208D-4FC5-A2D3-B1A82678F4E1}">
      <dsp:nvSpPr>
        <dsp:cNvPr id="0" name=""/>
        <dsp:cNvSpPr/>
      </dsp:nvSpPr>
      <dsp:spPr>
        <a:xfrm>
          <a:off x="0" y="3420498"/>
          <a:ext cx="10981137" cy="76167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rtl="0">
            <a:lnSpc>
              <a:spcPct val="90000"/>
            </a:lnSpc>
            <a:spcBef>
              <a:spcPct val="0"/>
            </a:spcBef>
            <a:spcAft>
              <a:spcPct val="35000"/>
            </a:spcAft>
            <a:buNone/>
          </a:pPr>
          <a:r>
            <a:rPr lang="en-US" sz="3100" kern="1200">
              <a:latin typeface="Aptos Display" panose="02110004020202020204"/>
            </a:rPr>
            <a:t>Model and Evaluate</a:t>
          </a:r>
        </a:p>
      </dsp:txBody>
      <dsp:txXfrm>
        <a:off x="37182" y="3457680"/>
        <a:ext cx="10906773" cy="68730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1">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2A180A8E-4668-486A-95D0-DBD6BDD7C43F}"/>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sp>
      <p:cxnSp>
        <p:nvCxnSpPr>
          <p:cNvPr id="13" name="Straight Connector 12">
            <a:extLst>
              <a:ext uri="{FF2B5EF4-FFF2-40B4-BE49-F238E27FC236}">
                <a16:creationId xmlns:a16="http://schemas.microsoft.com/office/drawing/2014/main" id="{1CBB8E81-5147-5506-5F4B-DBC0E7AF26E1}"/>
              </a:ext>
              <a:ext uri="{C183D7F6-B498-43B3-948B-1728B52AA6E4}">
                <adec:decorative xmlns:adec="http://schemas.microsoft.com/office/drawing/2017/decorative" val="1"/>
              </a:ext>
            </a:extLst>
          </p:cNvPr>
          <p:cNvCxnSpPr>
            <a:cxnSpLocks/>
          </p:cNvCxnSpPr>
          <p:nvPr/>
        </p:nvCxnSpPr>
        <p:spPr>
          <a:xfrm>
            <a:off x="11506200" y="637890"/>
            <a:ext cx="0" cy="557241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34852B95-CFB8-EEBE-3973-7363B361118A}"/>
              </a:ext>
              <a:ext uri="{C183D7F6-B498-43B3-948B-1728B52AA6E4}">
                <adec:decorative xmlns:adec="http://schemas.microsoft.com/office/drawing/2017/decorative" val="1"/>
              </a:ext>
            </a:extLst>
          </p:cNvPr>
          <p:cNvCxnSpPr>
            <a:cxnSpLocks/>
          </p:cNvCxnSpPr>
          <p:nvPr/>
        </p:nvCxnSpPr>
        <p:spPr>
          <a:xfrm>
            <a:off x="696332" y="768924"/>
            <a:ext cx="0" cy="480060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10" name="Picture Placeholder 9">
            <a:extLst>
              <a:ext uri="{FF2B5EF4-FFF2-40B4-BE49-F238E27FC236}">
                <a16:creationId xmlns:a16="http://schemas.microsoft.com/office/drawing/2014/main" id="{F1A205B3-F30A-B2B0-2AFF-593443D32773}"/>
              </a:ext>
              <a:ext uri="{C183D7F6-B498-43B3-948B-1728B52AA6E4}">
                <adec:decorative xmlns:adec="http://schemas.microsoft.com/office/drawing/2017/decorative" val="0"/>
              </a:ext>
            </a:extLst>
          </p:cNvPr>
          <p:cNvSpPr>
            <a:spLocks noGrp="1" noChangeAspect="1"/>
          </p:cNvSpPr>
          <p:nvPr>
            <p:ph type="pic" sz="quarter" idx="14" hasCustomPrompt="1"/>
          </p:nvPr>
        </p:nvSpPr>
        <p:spPr>
          <a:xfrm>
            <a:off x="5503863" y="1354138"/>
            <a:ext cx="5322887" cy="4481512"/>
          </a:xfrm>
          <a:blipFill>
            <a:blip r:embed="rId2">
              <a:alphaModFix amt="70000"/>
            </a:blip>
            <a:stretch>
              <a:fillRect/>
            </a:stretch>
          </a:blipFill>
        </p:spPr>
        <p:txBody>
          <a:bodyPr anchor="t"/>
          <a:lstStyle>
            <a:lvl1pPr marL="0" indent="0">
              <a:buNone/>
              <a:defRPr/>
            </a:lvl1pPr>
          </a:lstStyle>
          <a:p>
            <a:endParaRPr/>
          </a:p>
        </p:txBody>
      </p: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914400" y="831992"/>
            <a:ext cx="5897880" cy="4258956"/>
          </a:xfrm>
          <a:solidFill>
            <a:schemeClr val="bg2"/>
          </a:solidFill>
        </p:spPr>
        <p:txBody>
          <a:bodyPr lIns="182880" rIns="228600" bIns="91440" anchor="b">
            <a:normAutofit/>
          </a:bodyPr>
          <a:lstStyle>
            <a:lvl1pPr algn="r">
              <a:lnSpc>
                <a:spcPct val="80000"/>
              </a:lnSpc>
              <a:defRPr sz="7200">
                <a:solidFill>
                  <a:schemeClr val="accent1"/>
                </a:solidFill>
              </a:defRPr>
            </a:lvl1pPr>
          </a:lstStyle>
          <a:p>
            <a:r>
              <a:rPr lang="en-US"/>
              <a:t>Click to edit Master title style</a:t>
            </a:r>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605431" y="5372809"/>
            <a:ext cx="2364946" cy="909119"/>
          </a:xfrm>
          <a:solidFill>
            <a:schemeClr val="bg2"/>
          </a:solidFill>
        </p:spPr>
        <p:txBody>
          <a:bodyPr vert="horz" lIns="91440" tIns="45720" rIns="91440" bIns="45720" rtlCol="0" anchor="b">
            <a:normAutofit/>
          </a:bodyPr>
          <a:lstStyle>
            <a:lvl1pPr marL="0" indent="0">
              <a:lnSpc>
                <a:spcPct val="100000"/>
              </a:lnSpc>
              <a:buNone/>
              <a:defRPr lang="en-US" sz="1600" cap="all" baseline="0" dirty="0">
                <a:solidFill>
                  <a:schemeClr val="accent3">
                    <a:lumMod val="75000"/>
                  </a:schemeClr>
                </a:solidFill>
                <a:latin typeface="+mj-lt"/>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9547529" y="612251"/>
            <a:ext cx="2070397" cy="518965"/>
          </a:xfrm>
          <a:solidFill>
            <a:schemeClr val="bg2"/>
          </a:solidFill>
        </p:spPr>
        <p:txBody>
          <a:bodyPr anchor="t"/>
          <a:lstStyle>
            <a:lvl1pPr algn="r">
              <a:defRPr sz="1050"/>
            </a:lvl1pPr>
          </a:lstStyle>
          <a:p>
            <a:r>
              <a:rPr lang="en-US"/>
              <a:t>
              </a:t>
            </a:r>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xfrm rot="5400000">
            <a:off x="10897326" y="5229935"/>
            <a:ext cx="1223795" cy="365125"/>
          </a:xfrm>
          <a:solidFill>
            <a:schemeClr val="bg2"/>
          </a:solidFill>
        </p:spPr>
        <p:txBody>
          <a:bodyPr rIns="182880"/>
          <a:lstStyle/>
          <a:p>
            <a:fld id="{F695BADC-4FD4-44DC-8CD5-A8F9C57A8D9D}" type="datetimeFigureOut">
              <a:rPr lang="en-US" dirty="0"/>
              <a:t>8/15/2026</a:t>
            </a:fld>
            <a:endParaRPr lang="en-US"/>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xfrm>
            <a:off x="11201400" y="6029866"/>
            <a:ext cx="461438" cy="365125"/>
          </a:xfrm>
          <a:solidFill>
            <a:schemeClr val="bg2"/>
          </a:solidFill>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18130350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2986" y="265728"/>
            <a:ext cx="10981137" cy="1325563"/>
          </a:xfrm>
          <a:noFill/>
        </p:spPr>
        <p:txBody>
          <a:bodyPr/>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2986" y="1736176"/>
            <a:ext cx="10981137" cy="41988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D849E410-BE9E-427B-BCB5-604E33C4348E}" type="datetimeFigureOut">
              <a:rPr lang="en-US" dirty="0"/>
              <a:t>8/15/2026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42930404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AC4281C-DEF6-4D7C-EC36-131C16834D5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sp>
      <p:cxnSp>
        <p:nvCxnSpPr>
          <p:cNvPr id="8" name="Straight Connector 7">
            <a:extLst>
              <a:ext uri="{FF2B5EF4-FFF2-40B4-BE49-F238E27FC236}">
                <a16:creationId xmlns:a16="http://schemas.microsoft.com/office/drawing/2014/main" id="{9B7AE09E-7342-F8D6-76B9-3191D2C214A6}"/>
              </a:ext>
              <a:ext uri="{C183D7F6-B498-43B3-948B-1728B52AA6E4}">
                <adec:decorative xmlns:adec="http://schemas.microsoft.com/office/drawing/2017/decorative" val="1"/>
              </a:ext>
            </a:extLst>
          </p:cNvPr>
          <p:cNvCxnSpPr>
            <a:cxnSpLocks/>
          </p:cNvCxnSpPr>
          <p:nvPr/>
        </p:nvCxnSpPr>
        <p:spPr>
          <a:xfrm>
            <a:off x="11502895" y="1090397"/>
            <a:ext cx="0" cy="4396003"/>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13" name="Picture Placeholder 12">
            <a:extLst>
              <a:ext uri="{FF2B5EF4-FFF2-40B4-BE49-F238E27FC236}">
                <a16:creationId xmlns:a16="http://schemas.microsoft.com/office/drawing/2014/main" id="{FD120947-D69A-84F3-7617-0239E8E5C7F8}"/>
              </a:ext>
              <a:ext uri="{C183D7F6-B498-43B3-948B-1728B52AA6E4}">
                <adec:decorative xmlns:adec="http://schemas.microsoft.com/office/drawing/2017/decorative" val="0"/>
              </a:ext>
            </a:extLst>
          </p:cNvPr>
          <p:cNvSpPr>
            <a:spLocks noGrp="1" noChangeAspect="1"/>
          </p:cNvSpPr>
          <p:nvPr>
            <p:ph type="pic" sz="quarter" idx="13" hasCustomPrompt="1"/>
          </p:nvPr>
        </p:nvSpPr>
        <p:spPr>
          <a:xfrm>
            <a:off x="-791" y="1371600"/>
            <a:ext cx="6706392" cy="5486400"/>
          </a:xfrm>
          <a:blipFill>
            <a:blip r:embed="rId2">
              <a:alphaModFix amt="70000"/>
            </a:blip>
            <a:stretch>
              <a:fillRect/>
            </a:stretch>
          </a:blipFill>
        </p:spPr>
        <p:txBody>
          <a:bodyPr anchor="t"/>
          <a:lstStyle>
            <a:lvl1pPr marL="0" indent="0">
              <a:buNone/>
              <a:defRPr/>
            </a:lvl1pPr>
          </a:lstStyle>
          <a:p>
            <a:endParaRPr/>
          </a:p>
        </p:txBody>
      </p: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4133850" y="685799"/>
            <a:ext cx="6373670" cy="2743201"/>
          </a:xfrm>
          <a:solidFill>
            <a:schemeClr val="bg2"/>
          </a:solidFill>
        </p:spPr>
        <p:txBody>
          <a:bodyPr vert="horz" lIns="182880" tIns="45720" rIns="91440" bIns="91440" rtlCol="0" anchor="b">
            <a:normAutofit/>
          </a:bodyPr>
          <a:lstStyle>
            <a:lvl1pPr>
              <a:lnSpc>
                <a:spcPct val="80000"/>
              </a:lnSpc>
              <a:defRPr lang="en-US" sz="6800" dirty="0">
                <a:solidFill>
                  <a:schemeClr val="accent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7500457" y="5570290"/>
            <a:ext cx="4114799" cy="699518"/>
          </a:xfrm>
        </p:spPr>
        <p:txBody>
          <a:bodyPr vert="horz" lIns="91440" tIns="45720" rIns="91440" bIns="45720" rtlCol="0" anchor="b">
            <a:normAutofit/>
          </a:bodyPr>
          <a:lstStyle>
            <a:lvl1pPr marL="0" indent="0" algn="r">
              <a:buNone/>
              <a:defRPr lang="en-US" sz="1600" cap="all" baseline="0" dirty="0">
                <a:solidFill>
                  <a:schemeClr val="accent3">
                    <a:lumMod val="75000"/>
                  </a:schemeClr>
                </a:solidFill>
                <a:latin typeface="+mj-lt"/>
              </a:defRPr>
            </a:lvl1pPr>
          </a:lstStyle>
          <a:p>
            <a:pPr lvl="0"/>
            <a:r>
              <a:rPr lang="en-US"/>
              <a:t>Click to edit Master subtitle style</a:t>
            </a:r>
          </a:p>
        </p:txBody>
      </p:sp>
      <p:sp>
        <p:nvSpPr>
          <p:cNvPr id="6" name="Slide Number Placeholder 5">
            <a:extLst>
              <a:ext uri="{FF2B5EF4-FFF2-40B4-BE49-F238E27FC236}">
                <a16:creationId xmlns:a16="http://schemas.microsoft.com/office/drawing/2014/main" id="{B945FE83-3A40-27CC-D68D-E889297B8CA2}"/>
              </a:ext>
            </a:extLst>
          </p:cNvPr>
          <p:cNvSpPr>
            <a:spLocks noGrp="1"/>
          </p:cNvSpPr>
          <p:nvPr>
            <p:ph type="sldNum" sz="quarter" idx="14"/>
          </p:nvPr>
        </p:nvSpPr>
        <p:spPr>
          <a:xfrm>
            <a:off x="145716" y="508084"/>
            <a:ext cx="429372" cy="365125"/>
          </a:xfrm>
          <a:noFill/>
        </p:spPr>
        <p:txBody>
          <a:bodyPr/>
          <a:lstStyle/>
          <a:p>
            <a:fld id="{27F8DDA4-3B80-4E8A-A8F5-521F73BF9127}" type="slidenum">
              <a:rPr lang="en-US" dirty="0"/>
              <a:t>‹#›</a:t>
            </a:fld>
            <a:endParaRPr lang="en-US"/>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xfrm>
            <a:off x="603663" y="508084"/>
            <a:ext cx="1203320" cy="365125"/>
          </a:xfrm>
          <a:solidFill>
            <a:schemeClr val="bg2"/>
          </a:solidFill>
        </p:spPr>
        <p:txBody>
          <a:bodyPr/>
          <a:lstStyle>
            <a:lvl1pPr algn="l">
              <a:defRPr/>
            </a:lvl1pPr>
          </a:lstStyle>
          <a:p>
            <a:fld id="{D666FC17-48E9-4EB3-BB0E-C81F4FBF1D65}" type="datetimeFigureOut">
              <a:rPr lang="en-US" dirty="0"/>
              <a:t>8/15/2026</a:t>
            </a:fld>
            <a:endParaRPr lang="en-US"/>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10134603" y="612063"/>
            <a:ext cx="1487296" cy="478334"/>
          </a:xfrm>
          <a:solidFill>
            <a:schemeClr val="bg2"/>
          </a:solidFill>
        </p:spPr>
        <p:txBody>
          <a:bodyPr anchor="t"/>
          <a:lstStyle>
            <a:lvl1pPr algn="r">
              <a:defRPr sz="1050"/>
            </a:lvl1pPr>
          </a:lstStyle>
          <a:p>
            <a:r>
              <a:rPr lang="en-US"/>
              <a:t>
              </a:t>
            </a:r>
          </a:p>
        </p:txBody>
      </p:sp>
    </p:spTree>
    <p:extLst>
      <p:ext uri="{BB962C8B-B14F-4D97-AF65-F5344CB8AC3E}">
        <p14:creationId xmlns:p14="http://schemas.microsoft.com/office/powerpoint/2010/main" val="12769325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AC4281C-DEF6-4D7C-EC36-131C16834D5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sp>
      <p:cxnSp>
        <p:nvCxnSpPr>
          <p:cNvPr id="8" name="Straight Connector 7">
            <a:extLst>
              <a:ext uri="{FF2B5EF4-FFF2-40B4-BE49-F238E27FC236}">
                <a16:creationId xmlns:a16="http://schemas.microsoft.com/office/drawing/2014/main" id="{9B7AE09E-7342-F8D6-76B9-3191D2C214A6}"/>
              </a:ext>
              <a:ext uri="{C183D7F6-B498-43B3-948B-1728B52AA6E4}">
                <adec:decorative xmlns:adec="http://schemas.microsoft.com/office/drawing/2017/decorative" val="1"/>
              </a:ext>
            </a:extLst>
          </p:cNvPr>
          <p:cNvCxnSpPr>
            <a:cxnSpLocks/>
          </p:cNvCxnSpPr>
          <p:nvPr/>
        </p:nvCxnSpPr>
        <p:spPr>
          <a:xfrm>
            <a:off x="11502895" y="1033580"/>
            <a:ext cx="0" cy="4800292"/>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137159" y="338328"/>
            <a:ext cx="8168640" cy="4462272"/>
          </a:xfrm>
          <a:noFill/>
        </p:spPr>
        <p:txBody>
          <a:bodyPr vert="horz" lIns="91440" tIns="45720" rIns="91440" bIns="137160" rtlCol="0" anchor="t">
            <a:normAutofit/>
          </a:bodyPr>
          <a:lstStyle>
            <a:lvl1pPr>
              <a:lnSpc>
                <a:spcPct val="80000"/>
              </a:lnSpc>
              <a:defRPr lang="en-US" sz="9600" spc="-100" baseline="0" dirty="0">
                <a:solidFill>
                  <a:schemeClr val="accent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8534400" y="4754729"/>
            <a:ext cx="3084441" cy="1080302"/>
          </a:xfrm>
          <a:solidFill>
            <a:schemeClr val="bg2"/>
          </a:solidFill>
        </p:spPr>
        <p:txBody>
          <a:bodyPr vert="horz" lIns="91440" tIns="45720" rIns="91440" bIns="45720" rtlCol="0" anchor="b">
            <a:normAutofit/>
          </a:bodyPr>
          <a:lstStyle>
            <a:lvl1pPr marL="0" indent="0" algn="r">
              <a:buNone/>
              <a:defRPr lang="en-US" sz="1600" cap="all" spc="100" baseline="0" dirty="0">
                <a:solidFill>
                  <a:schemeClr val="accent5"/>
                </a:solidFill>
                <a:latin typeface="+mj-lt"/>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9144000" y="447579"/>
            <a:ext cx="2477899" cy="586001"/>
          </a:xfrm>
          <a:noFill/>
        </p:spPr>
        <p:txBody>
          <a:bodyPr/>
          <a:lstStyle>
            <a:lvl1pPr algn="r">
              <a:defRPr sz="1050"/>
            </a:lvl1pPr>
          </a:lstStyle>
          <a:p>
            <a:r>
              <a:rPr lang="en-US"/>
              <a:t>
              </a:t>
            </a:r>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noFill/>
        </p:spPr>
        <p:txBody>
          <a:bodyPr/>
          <a:lstStyle/>
          <a:p>
            <a:fld id="{DFE1FB2C-1600-49CF-ABE3-F2743AC651C3}" type="datetimeFigureOut">
              <a:rPr lang="en-US" dirty="0"/>
              <a:t>8/15/2026</a:t>
            </a:fld>
            <a:endParaRPr lang="en-US"/>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noFill/>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15870852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D3069F5-8FDE-3652-E906-3619BF9A5D9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sp>
      <p:cxnSp>
        <p:nvCxnSpPr>
          <p:cNvPr id="8" name="Straight Connector 7">
            <a:extLst>
              <a:ext uri="{FF2B5EF4-FFF2-40B4-BE49-F238E27FC236}">
                <a16:creationId xmlns:a16="http://schemas.microsoft.com/office/drawing/2014/main" id="{7F3E913D-4F8E-6F1A-DB89-A9E5CB7D266C}"/>
              </a:ext>
              <a:ext uri="{C183D7F6-B498-43B3-948B-1728B52AA6E4}">
                <adec:decorative xmlns:adec="http://schemas.microsoft.com/office/drawing/2017/decorative" val="1"/>
              </a:ext>
            </a:extLst>
          </p:cNvPr>
          <p:cNvCxnSpPr>
            <a:cxnSpLocks/>
          </p:cNvCxnSpPr>
          <p:nvPr/>
        </p:nvCxnSpPr>
        <p:spPr>
          <a:xfrm flipH="1">
            <a:off x="926297" y="6172185"/>
            <a:ext cx="10326757" cy="0"/>
          </a:xfrm>
          <a:prstGeom prst="line">
            <a:avLst/>
          </a:prstGeom>
          <a:ln w="12700">
            <a:solidFill>
              <a:schemeClr val="bg2">
                <a:alpha val="47000"/>
              </a:schemeClr>
            </a:solidFill>
          </a:ln>
        </p:spPr>
        <p:style>
          <a:lnRef idx="1">
            <a:schemeClr val="accent1"/>
          </a:lnRef>
          <a:fillRef idx="0">
            <a:schemeClr val="accent1"/>
          </a:fillRef>
          <a:effectRef idx="0">
            <a:schemeClr val="accent1"/>
          </a:effectRef>
          <a:fontRef idx="minor">
            <a:schemeClr val="tx1"/>
          </a:fontRef>
        </p:style>
      </p:cxnSp>
      <p:sp>
        <p:nvSpPr>
          <p:cNvPr id="9" name="Title 8">
            <a:extLst>
              <a:ext uri="{FF2B5EF4-FFF2-40B4-BE49-F238E27FC236}">
                <a16:creationId xmlns:a16="http://schemas.microsoft.com/office/drawing/2014/main" id="{15478846-46FB-2BEE-98D6-C903223E25CA}"/>
              </a:ext>
            </a:extLst>
          </p:cNvPr>
          <p:cNvSpPr>
            <a:spLocks noGrp="1"/>
          </p:cNvSpPr>
          <p:nvPr>
            <p:ph type="title" hasCustomPrompt="1"/>
          </p:nvPr>
        </p:nvSpPr>
        <p:spPr>
          <a:xfrm>
            <a:off x="128016" y="365760"/>
            <a:ext cx="11534790" cy="5525653"/>
          </a:xfrm>
          <a:noFill/>
        </p:spPr>
        <p:txBody>
          <a:bodyPr anchor="t">
            <a:normAutofit/>
          </a:bodyPr>
          <a:lstStyle>
            <a:lvl1pPr>
              <a:defRPr sz="11500" baseline="0">
                <a:ln>
                  <a:solidFill>
                    <a:schemeClr val="bg1"/>
                  </a:solidFill>
                </a:ln>
                <a:solidFill>
                  <a:schemeClr val="accent1"/>
                </a:solidFill>
              </a:defRPr>
            </a:lvl1pPr>
          </a:lstStyle>
          <a:p>
            <a:r>
              <a:rPr lang="en-US"/>
              <a:t>Section Header</a:t>
            </a:r>
          </a:p>
        </p:txBody>
      </p:sp>
      <p:sp>
        <p:nvSpPr>
          <p:cNvPr id="5" name="Footer Placeholder 4">
            <a:extLst>
              <a:ext uri="{FF2B5EF4-FFF2-40B4-BE49-F238E27FC236}">
                <a16:creationId xmlns:a16="http://schemas.microsoft.com/office/drawing/2014/main" id="{37A8544F-8D58-BFED-5A2B-2F718BA6F4F4}"/>
              </a:ext>
            </a:extLst>
          </p:cNvPr>
          <p:cNvSpPr>
            <a:spLocks noGrp="1"/>
          </p:cNvSpPr>
          <p:nvPr>
            <p:ph type="ftr" sz="quarter" idx="11"/>
          </p:nvPr>
        </p:nvSpPr>
        <p:spPr>
          <a:solidFill>
            <a:schemeClr val="accent1"/>
          </a:solidFill>
        </p:spPr>
        <p:txBody>
          <a:bodyPr/>
          <a:lstStyle>
            <a:lvl1pPr>
              <a:defRPr>
                <a:solidFill>
                  <a:schemeClr val="bg1"/>
                </a:solidFill>
              </a:defRPr>
            </a:lvl1pPr>
          </a:lstStyle>
          <a:p>
            <a:r>
              <a:rPr lang="en-US"/>
              <a:t>
              </a:t>
            </a:r>
          </a:p>
        </p:txBody>
      </p:sp>
      <p:sp>
        <p:nvSpPr>
          <p:cNvPr id="4" name="Date Placeholder 3">
            <a:extLst>
              <a:ext uri="{FF2B5EF4-FFF2-40B4-BE49-F238E27FC236}">
                <a16:creationId xmlns:a16="http://schemas.microsoft.com/office/drawing/2014/main" id="{AB70139D-4890-4E0D-B3FD-098A02AB4ADF}"/>
              </a:ext>
            </a:extLst>
          </p:cNvPr>
          <p:cNvSpPr>
            <a:spLocks noGrp="1"/>
          </p:cNvSpPr>
          <p:nvPr>
            <p:ph type="dt" sz="half" idx="10"/>
          </p:nvPr>
        </p:nvSpPr>
        <p:spPr>
          <a:solidFill>
            <a:schemeClr val="accent1"/>
          </a:solidFill>
        </p:spPr>
        <p:txBody>
          <a:bodyPr/>
          <a:lstStyle>
            <a:lvl1pPr>
              <a:defRPr>
                <a:solidFill>
                  <a:schemeClr val="bg1"/>
                </a:solidFill>
              </a:defRPr>
            </a:lvl1pPr>
          </a:lstStyle>
          <a:p>
            <a:fld id="{F205D05A-BA39-4B06-B20A-BF32BF994A68}" type="datetimeFigureOut">
              <a:rPr lang="en-US" dirty="0"/>
              <a:t>8/15/2026</a:t>
            </a:fld>
            <a:endParaRPr lang="en-US"/>
          </a:p>
        </p:txBody>
      </p:sp>
      <p:sp>
        <p:nvSpPr>
          <p:cNvPr id="6" name="Slide Number Placeholder 5">
            <a:extLst>
              <a:ext uri="{FF2B5EF4-FFF2-40B4-BE49-F238E27FC236}">
                <a16:creationId xmlns:a16="http://schemas.microsoft.com/office/drawing/2014/main" id="{BA1CD1DB-3989-A34F-B5F7-DF66E018CF83}"/>
              </a:ext>
            </a:extLst>
          </p:cNvPr>
          <p:cNvSpPr>
            <a:spLocks noGrp="1"/>
          </p:cNvSpPr>
          <p:nvPr>
            <p:ph type="sldNum" sz="quarter" idx="12"/>
          </p:nvPr>
        </p:nvSpPr>
        <p:spPr>
          <a:solidFill>
            <a:schemeClr val="accent1"/>
          </a:solidFill>
        </p:spPr>
        <p:txBody>
          <a:bodyPr/>
          <a:lstStyle>
            <a:lvl1pPr>
              <a:defRPr>
                <a:solidFill>
                  <a:schemeClr val="bg1"/>
                </a:solidFill>
              </a:defRPr>
            </a:lvl1pPr>
          </a:lstStyle>
          <a:p>
            <a:fld id="{27F8DDA4-3B80-4E8A-A8F5-521F73BF9127}" type="slidenum">
              <a:rPr lang="en-US" dirty="0"/>
              <a:t>‹#›</a:t>
            </a:fld>
            <a:endParaRPr lang="en-US"/>
          </a:p>
        </p:txBody>
      </p:sp>
    </p:spTree>
    <p:extLst>
      <p:ext uri="{BB962C8B-B14F-4D97-AF65-F5344CB8AC3E}">
        <p14:creationId xmlns:p14="http://schemas.microsoft.com/office/powerpoint/2010/main" val="8422787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53CEDCC-8645-A5B4-D871-D690615124B2}"/>
              </a:ext>
              <a:ext uri="{C183D7F6-B498-43B3-948B-1728B52AA6E4}">
                <adec:decorative xmlns:adec="http://schemas.microsoft.com/office/drawing/2017/decorative" val="1"/>
              </a:ext>
            </a:extLst>
          </p:cNvPr>
          <p:cNvSpPr/>
          <p:nvPr/>
        </p:nvSpPr>
        <p:spPr>
          <a:xfrm>
            <a:off x="1" y="0"/>
            <a:ext cx="12191996" cy="6858000"/>
          </a:xfrm>
          <a:prstGeom prst="rect">
            <a:avLst/>
          </a:prstGeom>
          <a:solidFill>
            <a:schemeClr val="bg2">
              <a:lumMod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sp>
      <p:cxnSp>
        <p:nvCxnSpPr>
          <p:cNvPr id="9" name="Straight Connector 8">
            <a:extLst>
              <a:ext uri="{FF2B5EF4-FFF2-40B4-BE49-F238E27FC236}">
                <a16:creationId xmlns:a16="http://schemas.microsoft.com/office/drawing/2014/main" id="{65A45860-DB3A-9EDB-7B6D-FBF1001212E9}"/>
              </a:ext>
              <a:ext uri="{C183D7F6-B498-43B3-948B-1728B52AA6E4}">
                <adec:decorative xmlns:adec="http://schemas.microsoft.com/office/drawing/2017/decorative" val="1"/>
              </a:ext>
            </a:extLst>
          </p:cNvPr>
          <p:cNvCxnSpPr>
            <a:cxnSpLocks/>
          </p:cNvCxnSpPr>
          <p:nvPr/>
        </p:nvCxnSpPr>
        <p:spPr>
          <a:xfrm flipH="1">
            <a:off x="1321906" y="685800"/>
            <a:ext cx="10184294" cy="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CC2FAA59-861A-3F3D-3441-F663554088BE}"/>
              </a:ext>
              <a:ext uri="{C183D7F6-B498-43B3-948B-1728B52AA6E4}">
                <adec:decorative xmlns:adec="http://schemas.microsoft.com/office/drawing/2017/decorative" val="1"/>
              </a:ext>
            </a:extLst>
          </p:cNvPr>
          <p:cNvSpPr/>
          <p:nvPr/>
        </p:nvSpPr>
        <p:spPr>
          <a:xfrm>
            <a:off x="4724403" y="2043904"/>
            <a:ext cx="7467597" cy="48140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rot="16200000">
            <a:off x="-1406175" y="2720396"/>
            <a:ext cx="5645423" cy="2494309"/>
          </a:xfrm>
          <a:solidFill>
            <a:schemeClr val="bg2">
              <a:lumMod val="90000"/>
            </a:schemeClr>
          </a:solidFill>
        </p:spPr>
        <p:txBody>
          <a:bodyPr vert="horz" lIns="91440" tIns="45720" rIns="91440" bIns="137160" rtlCol="0" anchor="t">
            <a:normAutofit/>
          </a:bodyPr>
          <a:lstStyle>
            <a:lvl1pPr>
              <a:defRPr lang="en-US" sz="12000" dirty="0">
                <a:solidFill>
                  <a:schemeClr val="accent2"/>
                </a:solidFill>
              </a:defRPr>
            </a:lvl1pPr>
          </a:lstStyle>
          <a:p>
            <a:pPr lvl="0"/>
            <a:r>
              <a:rPr lang="en-US"/>
              <a:t>Agenda</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586410" y="569843"/>
            <a:ext cx="1470992" cy="541698"/>
          </a:xfrm>
          <a:solidFill>
            <a:schemeClr val="bg2">
              <a:lumMod val="90000"/>
            </a:schemeClr>
          </a:solidFill>
        </p:spPr>
        <p:txBody>
          <a:bodyPr anchor="t"/>
          <a:lstStyle>
            <a:lvl1pPr algn="l">
              <a:defRPr sz="1050"/>
            </a:lvl1pPr>
          </a:lstStyle>
          <a:p>
            <a:r>
              <a:rPr lang="en-US"/>
              <a:t>
              </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410198" y="2743202"/>
            <a:ext cx="6096001" cy="3467098"/>
          </a:xfrm>
        </p:spPr>
        <p:txBody>
          <a:bodyPr>
            <a:normAutofit/>
          </a:bodyPr>
          <a:lstStyle>
            <a:lvl1pPr marL="342900" indent="-342900">
              <a:buClr>
                <a:schemeClr val="accent2"/>
              </a:buClr>
              <a:buFont typeface="+mj-lt"/>
              <a:buAutoNum type="arabicPeriod"/>
              <a:defRPr sz="1800"/>
            </a:lvl1pPr>
            <a:lvl2pPr marL="800100" indent="-342900">
              <a:buClr>
                <a:schemeClr val="accent2"/>
              </a:buClr>
              <a:buFont typeface="+mj-lt"/>
              <a:buAutoNum type="arabicPeriod"/>
              <a:defRPr sz="1600"/>
            </a:lvl2pPr>
            <a:lvl3pPr marL="1257300" indent="-342900">
              <a:buClr>
                <a:schemeClr val="accent2"/>
              </a:buClr>
              <a:buFont typeface="+mj-lt"/>
              <a:buAutoNum type="arabicPeriod"/>
              <a:defRPr sz="1400"/>
            </a:lvl3pPr>
            <a:lvl4pPr>
              <a:buClr>
                <a:schemeClr val="accent2"/>
              </a:buClr>
              <a:buFont typeface="+mj-lt"/>
              <a:buAutoNum type="arabicPeriod"/>
              <a:defRPr sz="1200"/>
            </a:lvl4pPr>
            <a:lvl5pPr>
              <a:buClr>
                <a:schemeClr val="accent2"/>
              </a:buCl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900458" y="413627"/>
            <a:ext cx="1256738" cy="545500"/>
          </a:xfrm>
          <a:solidFill>
            <a:schemeClr val="bg2">
              <a:lumMod val="90000"/>
            </a:schemeClr>
          </a:solidFill>
        </p:spPr>
        <p:txBody>
          <a:bodyPr/>
          <a:lstStyle/>
          <a:p>
            <a:fld id="{6C2206C6-C6B2-4E06-A7AA-7F308C2F851D}" type="datetimeFigureOut">
              <a:rPr lang="en-US" dirty="0"/>
              <a:t>8/15/2026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157196" y="413627"/>
            <a:ext cx="429372" cy="545500"/>
          </a:xfrm>
          <a:solidFill>
            <a:schemeClr val="bg2">
              <a:lumMod val="90000"/>
            </a:schemeClr>
          </a:solidFill>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19231174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53CEDCC-8645-A5B4-D871-D690615124B2}"/>
              </a:ext>
              <a:ext uri="{C183D7F6-B498-43B3-948B-1728B52AA6E4}">
                <adec:decorative xmlns:adec="http://schemas.microsoft.com/office/drawing/2017/decorative" val="1"/>
              </a:ext>
            </a:extLst>
          </p:cNvPr>
          <p:cNvSpPr/>
          <p:nvPr/>
        </p:nvSpPr>
        <p:spPr>
          <a:xfrm>
            <a:off x="1" y="0"/>
            <a:ext cx="12191996" cy="6858000"/>
          </a:xfrm>
          <a:prstGeom prst="rect">
            <a:avLst/>
          </a:prstGeom>
          <a:solidFill>
            <a:schemeClr val="bg2">
              <a:lumMod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sp>
      <p:sp>
        <p:nvSpPr>
          <p:cNvPr id="8" name="Rectangle 7">
            <a:extLst>
              <a:ext uri="{FF2B5EF4-FFF2-40B4-BE49-F238E27FC236}">
                <a16:creationId xmlns:a16="http://schemas.microsoft.com/office/drawing/2014/main" id="{CC2FAA59-861A-3F3D-3441-F663554088BE}"/>
              </a:ext>
              <a:ext uri="{C183D7F6-B498-43B3-948B-1728B52AA6E4}">
                <adec:decorative xmlns:adec="http://schemas.microsoft.com/office/drawing/2017/decorative" val="1"/>
              </a:ext>
            </a:extLst>
          </p:cNvPr>
          <p:cNvSpPr/>
          <p:nvPr/>
        </p:nvSpPr>
        <p:spPr>
          <a:xfrm>
            <a:off x="1371603" y="3415504"/>
            <a:ext cx="10820397" cy="34424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sp>
      <p:cxnSp>
        <p:nvCxnSpPr>
          <p:cNvPr id="9" name="Straight Connector 8">
            <a:extLst>
              <a:ext uri="{FF2B5EF4-FFF2-40B4-BE49-F238E27FC236}">
                <a16:creationId xmlns:a16="http://schemas.microsoft.com/office/drawing/2014/main" id="{65A45860-DB3A-9EDB-7B6D-FBF1001212E9}"/>
              </a:ext>
              <a:ext uri="{C183D7F6-B498-43B3-948B-1728B52AA6E4}">
                <adec:decorative xmlns:adec="http://schemas.microsoft.com/office/drawing/2017/decorative" val="1"/>
              </a:ext>
            </a:extLst>
          </p:cNvPr>
          <p:cNvCxnSpPr>
            <a:cxnSpLocks/>
          </p:cNvCxnSpPr>
          <p:nvPr/>
        </p:nvCxnSpPr>
        <p:spPr>
          <a:xfrm flipV="1">
            <a:off x="11506200" y="1113182"/>
            <a:ext cx="0" cy="1704012"/>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46306" y="182880"/>
            <a:ext cx="7930892" cy="2238587"/>
          </a:xfrm>
          <a:noFill/>
        </p:spPr>
        <p:txBody>
          <a:bodyPr anchor="t">
            <a:normAutofit/>
          </a:bodyPr>
          <a:lstStyle>
            <a:lvl1pPr>
              <a:defRPr sz="12000" spc="-50" baseline="0">
                <a:solidFill>
                  <a:schemeClr val="accent2"/>
                </a:solidFill>
              </a:defRPr>
            </a:lvl1pPr>
          </a:lstStyle>
          <a:p>
            <a:r>
              <a:rPr lang="en-US"/>
              <a:t>Agenda</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1804946" y="3840480"/>
            <a:ext cx="6543924" cy="2536466"/>
          </a:xfrm>
        </p:spPr>
        <p:txBody>
          <a:bodyPr>
            <a:normAutofit/>
          </a:bodyPr>
          <a:lstStyle>
            <a:lvl1pPr marL="342900" indent="-342900">
              <a:buClr>
                <a:schemeClr val="accent2"/>
              </a:buClr>
              <a:buFont typeface="+mj-lt"/>
              <a:buAutoNum type="arabicPeriod"/>
              <a:defRPr sz="1800"/>
            </a:lvl1pPr>
            <a:lvl2pPr marL="800100" indent="-342900">
              <a:buClr>
                <a:schemeClr val="accent2"/>
              </a:buClr>
              <a:buFont typeface="+mj-lt"/>
              <a:buAutoNum type="arabicPeriod"/>
              <a:defRPr sz="1600"/>
            </a:lvl2pPr>
            <a:lvl3pPr marL="1257300" indent="-342900">
              <a:buClr>
                <a:schemeClr val="accent2"/>
              </a:buClr>
              <a:buFont typeface="+mj-lt"/>
              <a:buAutoNum type="arabicPeriod"/>
              <a:defRPr sz="1400"/>
            </a:lvl3pPr>
            <a:lvl4pPr>
              <a:buClr>
                <a:schemeClr val="accent2"/>
              </a:buClr>
              <a:buFont typeface="+mj-lt"/>
              <a:buAutoNum type="arabicPeriod"/>
              <a:defRPr sz="1200"/>
            </a:lvl4pPr>
            <a:lvl5pPr>
              <a:buClr>
                <a:schemeClr val="accent2"/>
              </a:buCl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10134611" y="612381"/>
            <a:ext cx="1484228" cy="479352"/>
          </a:xfrm>
          <a:noFill/>
        </p:spPr>
        <p:txBody>
          <a:bodyPr anchor="t"/>
          <a:lstStyle>
            <a:lvl1pPr algn="r">
              <a:defRPr sz="1050"/>
            </a:lvl1pPr>
          </a:lstStyle>
          <a:p>
            <a:r>
              <a:rPr lang="en-US"/>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933512" y="2756699"/>
            <a:ext cx="1256738" cy="423823"/>
          </a:xfrm>
          <a:solidFill>
            <a:schemeClr val="bg2">
              <a:lumMod val="90000"/>
            </a:schemeClr>
          </a:solidFill>
        </p:spPr>
        <p:txBody>
          <a:bodyPr anchor="ctr"/>
          <a:lstStyle>
            <a:lvl1pPr algn="r">
              <a:defRPr/>
            </a:lvl1pPr>
          </a:lstStyle>
          <a:p>
            <a:fld id="{D1188C7A-78DB-4967-8643-716598F25D97}" type="datetimeFigureOut">
              <a:rPr lang="en-US" dirty="0"/>
              <a:t>8/15/2026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10544" y="2756699"/>
            <a:ext cx="429372" cy="423823"/>
          </a:xfrm>
          <a:solidFill>
            <a:schemeClr val="bg2">
              <a:lumMod val="90000"/>
            </a:schemeClr>
          </a:solidFill>
        </p:spPr>
        <p:txBody>
          <a:bodyPr/>
          <a:lstStyle/>
          <a:p>
            <a:fld id="{27F8DDA4-3B80-4E8A-A8F5-521F73BF9127}" type="slidenum">
              <a:rPr lang="en-US" dirty="0"/>
              <a:t>‹#›</a:t>
            </a:fld>
            <a:endParaRPr lang="en-US"/>
          </a:p>
        </p:txBody>
      </p:sp>
      <p:sp>
        <p:nvSpPr>
          <p:cNvPr id="14" name="Picture Placeholder 13">
            <a:extLst>
              <a:ext uri="{FF2B5EF4-FFF2-40B4-BE49-F238E27FC236}">
                <a16:creationId xmlns:a16="http://schemas.microsoft.com/office/drawing/2014/main" id="{1DA62460-475C-38E7-135D-916B98438D09}"/>
              </a:ext>
            </a:extLst>
          </p:cNvPr>
          <p:cNvSpPr>
            <a:spLocks noGrp="1" noChangeAspect="1"/>
          </p:cNvSpPr>
          <p:nvPr>
            <p:ph type="pic" sz="quarter" idx="13" hasCustomPrompt="1"/>
          </p:nvPr>
        </p:nvSpPr>
        <p:spPr>
          <a:xfrm>
            <a:off x="8763000" y="3415504"/>
            <a:ext cx="3429000" cy="3442496"/>
          </a:xfrm>
          <a:blipFill>
            <a:blip r:embed="rId2">
              <a:alphaModFix amt="70000"/>
            </a:blip>
            <a:stretch>
              <a:fillRect/>
            </a:stretch>
          </a:blipFill>
        </p:spPr>
        <p:txBody>
          <a:bodyPr anchor="t"/>
          <a:lstStyle>
            <a:lvl1pPr marL="0" indent="0">
              <a:buNone/>
              <a:defRPr/>
            </a:lvl1pPr>
          </a:lstStyle>
          <a:p>
            <a:endParaRPr/>
          </a:p>
        </p:txBody>
      </p:sp>
    </p:spTree>
    <p:extLst>
      <p:ext uri="{BB962C8B-B14F-4D97-AF65-F5344CB8AC3E}">
        <p14:creationId xmlns:p14="http://schemas.microsoft.com/office/powerpoint/2010/main" val="8895157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371601" y="2057399"/>
            <a:ext cx="3429000" cy="1868557"/>
          </a:xfrm>
          <a:noFill/>
        </p:spPr>
        <p:txBody>
          <a:bodyPr anchor="t"/>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486400" y="2057401"/>
            <a:ext cx="4648200" cy="2743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2E394BC2-7D23-4352-8AF3-6A490B666FB8}" type="datetimeFigureOut">
              <a:rPr lang="en-US" dirty="0"/>
              <a:t>8/15/2026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15408147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1031915"/>
            <a:ext cx="3968496" cy="1494845"/>
          </a:xfrm>
          <a:noFill/>
        </p:spPr>
        <p:txBody>
          <a:bodyPr anchor="t"/>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090020" y="1001865"/>
            <a:ext cx="6416180" cy="46833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7"/>
            <a:ext cx="1179576" cy="365125"/>
          </a:xfrm>
        </p:spPr>
        <p:txBody>
          <a:bodyPr/>
          <a:lstStyle/>
          <a:p>
            <a:fld id="{4758A600-6D87-4303-8A2F-171F72E22375}" type="datetimeFigureOut">
              <a:rPr lang="en-US" dirty="0"/>
              <a:t>8/15/2026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24093400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noChangeAspect="1"/>
          </p:cNvSpPr>
          <p:nvPr>
            <p:ph type="pic" sz="quarter" idx="13" hasCustomPrompt="1"/>
          </p:nvPr>
        </p:nvSpPr>
        <p:spPr>
          <a:xfrm>
            <a:off x="0" y="0"/>
            <a:ext cx="3124200" cy="6858000"/>
          </a:xfrm>
          <a:blipFill>
            <a:blip r:embed="rId2">
              <a:alphaModFix amt="70000"/>
            </a:blip>
            <a:stretch>
              <a:fillRect/>
            </a:stretch>
          </a:blipFill>
        </p:spPr>
        <p:txBody>
          <a:bodyPr anchor="t"/>
          <a:lstStyle>
            <a:lvl1pPr marL="0" indent="0">
              <a:buNone/>
              <a:defRPr/>
            </a:lvl1pPr>
          </a:lstStyle>
          <a:p>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2438400" y="0"/>
            <a:ext cx="7391400" cy="1207008"/>
          </a:xfrm>
        </p:spPr>
        <p:txBody>
          <a:bodyPr lIns="137160" tIns="137160" bIns="91440" anchor="b"/>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3733800" y="1367622"/>
            <a:ext cx="7929006" cy="44775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BB460515-4779-2CA9-5335-1F4AD158B79D}"/>
              </a:ext>
              <a:ext uri="{C183D7F6-B498-43B3-948B-1728B52AA6E4}">
                <adec:decorative xmlns:adec="http://schemas.microsoft.com/office/drawing/2017/decorative" val="1"/>
              </a:ext>
            </a:extLst>
          </p:cNvPr>
          <p:cNvCxnSpPr>
            <a:cxnSpLocks/>
          </p:cNvCxnSpPr>
          <p:nvPr/>
        </p:nvCxnSpPr>
        <p:spPr>
          <a:xfrm>
            <a:off x="3810000" y="6210300"/>
            <a:ext cx="7696200"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3657601" y="6029868"/>
            <a:ext cx="2024542" cy="365125"/>
          </a:xfrm>
        </p:spPr>
        <p:txBody>
          <a:bodyPr/>
          <a:lstStyle/>
          <a:p>
            <a:r>
              <a:rPr lang="en-US"/>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FBFC4637-11C9-448C-8D4C-0CD0AE46C949}" type="datetimeFigureOut">
              <a:rPr lang="en-US" dirty="0"/>
              <a:t>8/15/2026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2748627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noChangeAspect="1"/>
          </p:cNvSpPr>
          <p:nvPr>
            <p:ph type="pic" sz="quarter" idx="13" hasCustomPrompt="1"/>
          </p:nvPr>
        </p:nvSpPr>
        <p:spPr>
          <a:xfrm>
            <a:off x="0" y="0"/>
            <a:ext cx="5486400" cy="5562600"/>
          </a:xfrm>
          <a:blipFill>
            <a:blip r:embed="rId2">
              <a:alphaModFix amt="70000"/>
            </a:blip>
            <a:stretch>
              <a:fillRect/>
            </a:stretch>
          </a:blipFill>
        </p:spPr>
        <p:txBody>
          <a:bodyPr anchor="t"/>
          <a:lstStyle>
            <a:lvl1pPr marL="0" indent="0">
              <a:buNone/>
              <a:defRPr/>
            </a:lvl1pPr>
          </a:lstStyle>
          <a:p>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5063318" y="0"/>
            <a:ext cx="4385481" cy="1796124"/>
          </a:xfrm>
        </p:spPr>
        <p:txBody>
          <a:bodyPr lIns="137160"/>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55056" y="1965281"/>
            <a:ext cx="4859992" cy="37328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F79E3CBC-A2D6-42D3-976A-174CF7E26BA0}" type="datetimeFigureOut">
              <a:rPr lang="en-US" dirty="0"/>
              <a:t>8/15/2026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13800483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499475"/>
            <a:ext cx="3625442" cy="1474692"/>
          </a:xfrm>
          <a:noFill/>
        </p:spPr>
        <p:txBody>
          <a:bodyPr/>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5432" y="2124222"/>
            <a:ext cx="3567404" cy="34887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16CAFF7D-6BAD-AE1B-CFE3-A9AB4D8667C6}"/>
              </a:ext>
            </a:extLst>
          </p:cNvPr>
          <p:cNvSpPr>
            <a:spLocks noGrp="1" noChangeAspect="1"/>
          </p:cNvSpPr>
          <p:nvPr>
            <p:ph type="pic" sz="quarter" idx="13" hasCustomPrompt="1"/>
          </p:nvPr>
        </p:nvSpPr>
        <p:spPr>
          <a:xfrm>
            <a:off x="4800601" y="0"/>
            <a:ext cx="7391400" cy="5562600"/>
          </a:xfrm>
          <a:blipFill>
            <a:blip r:embed="rId2">
              <a:alphaModFix amt="70000"/>
            </a:blip>
            <a:stretch>
              <a:fillRect/>
            </a:stretch>
          </a:blipFill>
        </p:spPr>
        <p:txBody>
          <a:bodyPr anchor="t"/>
          <a:lstStyle>
            <a:lvl1pPr marL="0" indent="0">
              <a:buNone/>
              <a:defRPr/>
            </a:lvl1pPr>
          </a:lstStyle>
          <a:p>
            <a:endParaRP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917E8D86-1037-438D-973A-F8D03A01BF16}" type="datetimeFigureOut">
              <a:rPr lang="en-US" dirty="0"/>
              <a:t>8/15/2026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8206" y="6029868"/>
            <a:ext cx="429372" cy="365125"/>
          </a:xfrm>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16476417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430047"/>
            <a:ext cx="4939005" cy="1166270"/>
          </a:xfrm>
          <a:noFill/>
        </p:spPr>
        <p:txBody>
          <a:bodyPr/>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5432" y="1746792"/>
            <a:ext cx="5776896" cy="3969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16CAFF7D-6BAD-AE1B-CFE3-A9AB4D8667C6}"/>
              </a:ext>
            </a:extLst>
          </p:cNvPr>
          <p:cNvSpPr>
            <a:spLocks noGrp="1" noChangeAspect="1"/>
          </p:cNvSpPr>
          <p:nvPr>
            <p:ph type="pic" sz="quarter" idx="13" hasCustomPrompt="1"/>
          </p:nvPr>
        </p:nvSpPr>
        <p:spPr>
          <a:xfrm>
            <a:off x="7391400" y="0"/>
            <a:ext cx="4800600" cy="5562600"/>
          </a:xfrm>
          <a:blipFill>
            <a:blip r:embed="rId2">
              <a:alphaModFix amt="70000"/>
            </a:blip>
            <a:stretch>
              <a:fillRect/>
            </a:stretch>
          </a:blipFill>
        </p:spPr>
        <p:txBody>
          <a:bodyPr anchor="t"/>
          <a:lstStyle>
            <a:lvl1pPr marL="0" indent="0">
              <a:buNone/>
              <a:defRPr/>
            </a:lvl1pPr>
          </a:lstStyle>
          <a:p>
            <a:endParaRP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B0ECE3E5-DEB1-48A2-A1A9-7ABBE9A784F7}" type="datetimeFigureOut">
              <a:rPr lang="en-US" dirty="0"/>
              <a:t>8/15/2026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8206" y="6029868"/>
            <a:ext cx="429372" cy="365125"/>
          </a:xfrm>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14287972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noChangeAspect="1"/>
          </p:cNvSpPr>
          <p:nvPr>
            <p:ph type="pic" sz="quarter" idx="13" hasCustomPrompt="1"/>
          </p:nvPr>
        </p:nvSpPr>
        <p:spPr>
          <a:xfrm>
            <a:off x="0" y="0"/>
            <a:ext cx="7848600" cy="6858000"/>
          </a:xfrm>
          <a:blipFill>
            <a:blip r:embed="rId2">
              <a:alphaModFix amt="70000"/>
            </a:blip>
            <a:stretch>
              <a:fillRect/>
            </a:stretch>
          </a:blipFill>
        </p:spPr>
        <p:txBody>
          <a:bodyPr anchor="t"/>
          <a:lstStyle>
            <a:lvl1pPr marL="0" indent="0">
              <a:buNone/>
              <a:defRPr/>
            </a:lvl1pPr>
          </a:lstStyle>
          <a:p>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7450456" y="0"/>
            <a:ext cx="4142830" cy="1978681"/>
          </a:xfrm>
        </p:spPr>
        <p:txBody>
          <a:bodyPr lIns="137160"/>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8442196" y="2112973"/>
            <a:ext cx="3151090" cy="36782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8439912" y="6029868"/>
            <a:ext cx="1911096" cy="365125"/>
          </a:xfrm>
          <a:noFill/>
        </p:spPr>
        <p:txBody>
          <a:bodyPr/>
          <a:lstStyle/>
          <a:p>
            <a:r>
              <a:rPr lang="en-US"/>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351008" y="6029868"/>
            <a:ext cx="890077" cy="365125"/>
          </a:xfrm>
          <a:noFill/>
        </p:spPr>
        <p:txBody>
          <a:bodyPr/>
          <a:lstStyle/>
          <a:p>
            <a:fld id="{2B950759-980B-4783-B58D-96B69BC77CA8}" type="datetimeFigureOut">
              <a:rPr lang="en-US" dirty="0"/>
              <a:t>8/15/2026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42270320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EEB1BA68-9980-8CBB-7BAF-A1D760EB21EC}"/>
              </a:ext>
            </a:extLst>
          </p:cNvPr>
          <p:cNvSpPr>
            <a:spLocks noGrp="1" noChangeAspect="1"/>
          </p:cNvSpPr>
          <p:nvPr>
            <p:ph type="pic" sz="quarter" idx="13" hasCustomPrompt="1"/>
          </p:nvPr>
        </p:nvSpPr>
        <p:spPr>
          <a:xfrm>
            <a:off x="0" y="1"/>
            <a:ext cx="12192000" cy="6858000"/>
          </a:xfrm>
          <a:custGeom>
            <a:avLst/>
            <a:gdLst/>
            <a:ahLst/>
            <a:cxnLst/>
            <a:rect l="l" t="t" r="r" b="b"/>
            <a:pathLst>
              <a:path w="12192000" h="6858000">
                <a:moveTo>
                  <a:pt x="4800600" y="0"/>
                </a:moveTo>
                <a:lnTo>
                  <a:pt x="12192000" y="0"/>
                </a:lnTo>
                <a:lnTo>
                  <a:pt x="12192000" y="6858000"/>
                </a:lnTo>
                <a:lnTo>
                  <a:pt x="0" y="6858000"/>
                </a:lnTo>
                <a:lnTo>
                  <a:pt x="0" y="5562599"/>
                </a:lnTo>
                <a:lnTo>
                  <a:pt x="4800600" y="5562599"/>
                </a:lnTo>
                <a:close/>
              </a:path>
            </a:pathLst>
          </a:custGeom>
          <a:blipFill>
            <a:blip r:embed="rId2">
              <a:alphaModFix amt="70000"/>
            </a:blip>
            <a:stretch>
              <a:fillRect/>
            </a:stretch>
          </a:blipFill>
        </p:spPr>
        <p:txBody>
          <a:bodyPr wrap="square" anchor="t">
            <a:noAutofit/>
          </a:bodyPr>
          <a:lstStyle>
            <a:lvl1pPr marL="0" indent="0">
              <a:buNone/>
              <a:defRPr/>
            </a:lvl1pPr>
          </a:lstStyle>
          <a:p>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1001376"/>
            <a:ext cx="3601122" cy="1362458"/>
          </a:xfrm>
          <a:noFill/>
        </p:spPr>
        <p:txBody>
          <a:bodyPr/>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3504" y="2496848"/>
            <a:ext cx="3601122" cy="230375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3504" y="503237"/>
            <a:ext cx="1907799" cy="365125"/>
          </a:xfrm>
          <a:noFill/>
        </p:spPr>
        <p:txBody>
          <a:bodyPr/>
          <a:lstStyle>
            <a:lvl1pPr algn="l">
              <a:defRPr/>
            </a:lvl1pPr>
          </a:lstStyle>
          <a:p>
            <a:r>
              <a:rPr lang="en-US"/>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603504" y="4800600"/>
            <a:ext cx="1256738" cy="365125"/>
          </a:xfrm>
          <a:noFill/>
        </p:spPr>
        <p:txBody>
          <a:bodyPr/>
          <a:lstStyle>
            <a:lvl1pPr algn="l">
              <a:defRPr/>
            </a:lvl1pPr>
          </a:lstStyle>
          <a:p>
            <a:fld id="{75D8CBF3-D33E-488B-BE09-B302C3504935}" type="datetimeFigureOut">
              <a:rPr lang="en-US" dirty="0"/>
              <a:t>8/15/2026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3947641" y="4800600"/>
            <a:ext cx="429372" cy="365125"/>
          </a:xfrm>
          <a:noFill/>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38813232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4673955"/>
            <a:ext cx="3154680" cy="1287913"/>
          </a:xfrm>
          <a:noFill/>
        </p:spPr>
        <p:txBody>
          <a:bodyPr anchor="t"/>
          <a:lstStyle>
            <a:lvl1pPr>
              <a:defRPr/>
            </a:lvl1pPr>
          </a:lstStyle>
          <a:p>
            <a:r>
              <a:rPr lang="en-US"/>
              <a:t>Click to Edit Master Title style</a:t>
            </a:r>
          </a:p>
        </p:txBody>
      </p:sp>
      <p:sp>
        <p:nvSpPr>
          <p:cNvPr id="16" name="Picture Placeholder 15">
            <a:extLst>
              <a:ext uri="{FF2B5EF4-FFF2-40B4-BE49-F238E27FC236}">
                <a16:creationId xmlns:a16="http://schemas.microsoft.com/office/drawing/2014/main" id="{16CAFF7D-6BAD-AE1B-CFE3-A9AB4D8667C6}"/>
              </a:ext>
            </a:extLst>
          </p:cNvPr>
          <p:cNvSpPr>
            <a:spLocks noGrp="1" noChangeAspect="1"/>
          </p:cNvSpPr>
          <p:nvPr>
            <p:ph type="pic" sz="quarter" idx="13" hasCustomPrompt="1"/>
          </p:nvPr>
        </p:nvSpPr>
        <p:spPr>
          <a:xfrm>
            <a:off x="0" y="0"/>
            <a:ext cx="12191999" cy="4114800"/>
          </a:xfrm>
          <a:blipFill>
            <a:blip r:embed="rId2">
              <a:alphaModFix amt="70000"/>
            </a:blip>
            <a:stretch>
              <a:fillRect/>
            </a:stretch>
          </a:blipFill>
        </p:spPr>
        <p:txBody>
          <a:bodyPr anchor="t"/>
          <a:lstStyle>
            <a:lvl1pPr marL="0" indent="0">
              <a:buNone/>
              <a:defRPr/>
            </a:lvl1pPr>
          </a:lstStyle>
          <a:p>
            <a:endParaRP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4114800" y="4647060"/>
            <a:ext cx="7552114" cy="1382807"/>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noFill/>
        </p:spPr>
        <p:txBody>
          <a:bodyPr/>
          <a:lstStyle/>
          <a:p>
            <a:r>
              <a:rPr lang="en-US"/>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a:noFill/>
        </p:spPr>
        <p:txBody>
          <a:bodyPr/>
          <a:lstStyle/>
          <a:p>
            <a:fld id="{49885C97-4180-47D6-BA3E-83C74E1B1903}" type="datetimeFigureOut">
              <a:rPr lang="en-US" dirty="0"/>
              <a:t>8/15/2026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7542" y="6029868"/>
            <a:ext cx="429372" cy="365125"/>
          </a:xfrm>
          <a:noFill/>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28273020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603505" y="337062"/>
            <a:ext cx="6787898" cy="845931"/>
          </a:xfrm>
        </p:spPr>
        <p:txBody>
          <a:bodyPr tIns="91440" bIns="91440"/>
          <a:lstStyle>
            <a:lvl1pPr>
              <a:defRPr/>
            </a:lvl1pPr>
          </a:lstStyle>
          <a:p>
            <a:r>
              <a:rPr lang="en-US"/>
              <a:t>Click to edit Master title style</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9705468" y="637706"/>
            <a:ext cx="1907799" cy="365125"/>
          </a:xfrm>
        </p:spPr>
        <p:txBody>
          <a:bodyPr anchor="t"/>
          <a:lstStyle>
            <a:lvl1pPr algn="r">
              <a:defRPr/>
            </a:lvl1pPr>
          </a:lstStyle>
          <a:p>
            <a:r>
              <a:rPr lang="en-US"/>
              <a:t>
              </a:t>
            </a:r>
          </a:p>
        </p:txBody>
      </p:sp>
      <p:sp>
        <p:nvSpPr>
          <p:cNvPr id="11" name="Picture Placeholder 10">
            <a:extLst>
              <a:ext uri="{FF2B5EF4-FFF2-40B4-BE49-F238E27FC236}">
                <a16:creationId xmlns:a16="http://schemas.microsoft.com/office/drawing/2014/main" id="{B95E85AE-6D30-80EB-DDF8-337E49DD6E5B}"/>
              </a:ext>
            </a:extLst>
          </p:cNvPr>
          <p:cNvSpPr>
            <a:spLocks noGrp="1" noChangeAspect="1"/>
          </p:cNvSpPr>
          <p:nvPr>
            <p:ph type="pic" sz="quarter" idx="13" hasCustomPrompt="1"/>
          </p:nvPr>
        </p:nvSpPr>
        <p:spPr>
          <a:xfrm>
            <a:off x="0" y="1371600"/>
            <a:ext cx="7391402" cy="5486400"/>
          </a:xfrm>
          <a:blipFill>
            <a:blip r:embed="rId2">
              <a:alphaModFix amt="70000"/>
            </a:blip>
            <a:stretch>
              <a:fillRect/>
            </a:stretch>
          </a:blipFill>
        </p:spPr>
        <p:txBody>
          <a:bodyPr anchor="t"/>
          <a:lstStyle>
            <a:lvl1pPr marL="0" indent="0">
              <a:buNone/>
              <a:defRPr/>
            </a:lvl1pPr>
          </a:lstStyle>
          <a:p>
            <a:endParaRP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7966163" y="1266737"/>
            <a:ext cx="2894795" cy="47631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9C7720E7-9D70-4C91-9C55-B922EC8FF4E1}" type="datetimeFigureOut">
              <a:rPr lang="en-US" dirty="0"/>
              <a:t>8/15/2026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dirty="0"/>
              <a:t>‹#›</a:t>
            </a:fld>
            <a:endParaRPr lang="en-US"/>
          </a:p>
        </p:txBody>
      </p:sp>
      <p:cxnSp>
        <p:nvCxnSpPr>
          <p:cNvPr id="12" name="Straight Connector 11">
            <a:extLst>
              <a:ext uri="{FF2B5EF4-FFF2-40B4-BE49-F238E27FC236}">
                <a16:creationId xmlns:a16="http://schemas.microsoft.com/office/drawing/2014/main" id="{DF397562-DA4B-EE6B-8F6C-1CE4F33EBED1}"/>
              </a:ext>
              <a:ext uri="{C183D7F6-B498-43B3-948B-1728B52AA6E4}">
                <adec:decorative xmlns:adec="http://schemas.microsoft.com/office/drawing/2017/decorative" val="1"/>
              </a:ext>
            </a:extLst>
          </p:cNvPr>
          <p:cNvCxnSpPr>
            <a:cxnSpLocks/>
          </p:cNvCxnSpPr>
          <p:nvPr/>
        </p:nvCxnSpPr>
        <p:spPr>
          <a:xfrm>
            <a:off x="11502704" y="1028700"/>
            <a:ext cx="0" cy="480060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776566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noChangeAspect="1"/>
          </p:cNvSpPr>
          <p:nvPr>
            <p:ph type="pic" sz="quarter" idx="13" hasCustomPrompt="1"/>
          </p:nvPr>
        </p:nvSpPr>
        <p:spPr>
          <a:xfrm>
            <a:off x="0" y="1"/>
            <a:ext cx="4800600" cy="4822372"/>
          </a:xfrm>
          <a:blipFill>
            <a:blip r:embed="rId2">
              <a:alphaModFix amt="70000"/>
            </a:blip>
            <a:stretch>
              <a:fillRect/>
            </a:stretch>
          </a:blipFill>
        </p:spPr>
        <p:txBody>
          <a:bodyPr anchor="t"/>
          <a:lstStyle>
            <a:lvl1pPr marL="0" indent="0">
              <a:buNone/>
              <a:defRPr/>
            </a:lvl1pPr>
          </a:lstStyle>
          <a:p>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002085" y="4374100"/>
            <a:ext cx="3897905" cy="1380814"/>
          </a:xfrm>
        </p:spPr>
        <p:txBody>
          <a:bodyPr lIns="137160" tIns="137160" anchor="t"/>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389516" y="685800"/>
            <a:ext cx="5430884" cy="52049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2974" y="6029867"/>
            <a:ext cx="1911096" cy="365126"/>
          </a:xfrm>
          <a:solidFill>
            <a:schemeClr val="bg1"/>
          </a:solidFill>
        </p:spPr>
        <p:txBody>
          <a:bodyPr anchor="ctr"/>
          <a:lstStyle>
            <a:lvl1pPr algn="l">
              <a:defRPr/>
            </a:lvl1pPr>
          </a:lstStyle>
          <a:p>
            <a:r>
              <a:rPr lang="en-US"/>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a:solidFill>
            <a:schemeClr val="bg1"/>
          </a:solidFill>
        </p:spPr>
        <p:txBody>
          <a:bodyPr/>
          <a:lstStyle/>
          <a:p>
            <a:fld id="{A25B1B0E-4CBA-421A-9FF9-BD907EE313C7}" type="datetimeFigureOut">
              <a:rPr lang="en-US" dirty="0"/>
              <a:t>8/15/2026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34402790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424EAB6-808C-672B-68A5-49764748CDD8}"/>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4800599" y="5149121"/>
            <a:ext cx="6861107" cy="842527"/>
          </a:xfrm>
          <a:noFill/>
        </p:spPr>
        <p:txBody>
          <a:bodyPr anchor="t"/>
          <a:lstStyle>
            <a:lvl1pPr algn="r">
              <a:defRPr b="0" cap="all" baseline="0">
                <a:solidFill>
                  <a:schemeClr val="accent1"/>
                </a:solidFill>
                <a:effectLst/>
                <a:latin typeface="+mj-lt"/>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434196" y="120765"/>
            <a:ext cx="10723000" cy="4260404"/>
          </a:xfrm>
        </p:spPr>
        <p:txBody>
          <a:bodyPr lIns="0" tIns="0" rIns="0" bIns="0" anchor="b">
            <a:normAutofit/>
          </a:bodyPr>
          <a:lstStyle>
            <a:lvl1pPr marL="0" indent="0">
              <a:buNone/>
              <a:defRPr sz="28000" spc="-200" baseline="0">
                <a:solidFill>
                  <a:schemeClr val="accent3"/>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6029867"/>
            <a:ext cx="2137769" cy="365125"/>
          </a:xfrm>
          <a:noFill/>
        </p:spPr>
        <p:txBody>
          <a:bodyPr/>
          <a:lstStyle>
            <a:lvl1pPr>
              <a:defRPr b="0">
                <a:solidFill>
                  <a:schemeClr val="tx2"/>
                </a:solidFill>
              </a:defRPr>
            </a:lvl1pPr>
          </a:lstStyle>
          <a:p>
            <a:r>
              <a:rPr lang="en-US"/>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noFill/>
        </p:spPr>
        <p:txBody>
          <a:bodyPr/>
          <a:lstStyle>
            <a:lvl1pPr>
              <a:defRPr>
                <a:solidFill>
                  <a:schemeClr val="tx2"/>
                </a:solidFill>
              </a:defRPr>
            </a:lvl1pPr>
          </a:lstStyle>
          <a:p>
            <a:fld id="{E5E07D1D-D1D5-479B-A8E5-C908666570C8}" type="datetimeFigureOut">
              <a:rPr lang="en-US" dirty="0"/>
              <a:t>8/15/2026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lvl1pPr>
              <a:defRPr>
                <a:solidFill>
                  <a:schemeClr val="tx2"/>
                </a:solidFill>
              </a:defRPr>
            </a:lvl1pPr>
          </a:lstStyle>
          <a:p>
            <a:fld id="{27F8DDA4-3B80-4E8A-A8F5-521F73BF9127}" type="slidenum">
              <a:rPr lang="en-US" dirty="0"/>
              <a:t>‹#›</a:t>
            </a:fld>
            <a:endParaRPr lang="en-US"/>
          </a:p>
        </p:txBody>
      </p:sp>
      <p:cxnSp>
        <p:nvCxnSpPr>
          <p:cNvPr id="9" name="Straight Connector 8">
            <a:extLst>
              <a:ext uri="{FF2B5EF4-FFF2-40B4-BE49-F238E27FC236}">
                <a16:creationId xmlns:a16="http://schemas.microsoft.com/office/drawing/2014/main" id="{838393CD-94B6-EC8A-E14F-A09689A25C51}"/>
              </a:ext>
              <a:ext uri="{C183D7F6-B498-43B3-948B-1728B52AA6E4}">
                <adec:decorative xmlns:adec="http://schemas.microsoft.com/office/drawing/2017/decorative" val="1"/>
              </a:ext>
            </a:extLst>
          </p:cNvPr>
          <p:cNvCxnSpPr>
            <a:cxnSpLocks/>
          </p:cNvCxnSpPr>
          <p:nvPr/>
        </p:nvCxnSpPr>
        <p:spPr>
          <a:xfrm>
            <a:off x="11503594" y="675861"/>
            <a:ext cx="0" cy="4184295"/>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571537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65FCAFD-B73A-5597-B603-55FD5D3AAC1E}"/>
              </a:ext>
              <a:ext uri="{C183D7F6-B498-43B3-948B-1728B52AA6E4}">
                <adec:decorative xmlns:adec="http://schemas.microsoft.com/office/drawing/2017/decorative" val="1"/>
              </a:ext>
            </a:extLst>
          </p:cNvPr>
          <p:cNvSpPr/>
          <p:nvPr/>
        </p:nvSpPr>
        <p:spPr>
          <a:xfrm>
            <a:off x="1" y="0"/>
            <a:ext cx="12192000" cy="6858000"/>
          </a:xfrm>
          <a:prstGeom prst="rect">
            <a:avLst/>
          </a:prstGeom>
          <a:solidFill>
            <a:schemeClr val="accent2">
              <a:lumMod val="60000"/>
              <a:lumOff val="4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605431" y="-785191"/>
            <a:ext cx="10981137" cy="640080"/>
          </a:xfrm>
          <a:noFill/>
        </p:spPr>
        <p:txBody>
          <a:body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337930" y="1649896"/>
            <a:ext cx="10169921" cy="4949687"/>
          </a:xfrm>
        </p:spPr>
        <p:txBody>
          <a:bodyPr anchor="b">
            <a:normAutofit/>
          </a:bodyPr>
          <a:lstStyle>
            <a:lvl1pPr marL="0" indent="0">
              <a:lnSpc>
                <a:spcPct val="80000"/>
              </a:lnSpc>
              <a:spcBef>
                <a:spcPts val="0"/>
              </a:spcBef>
              <a:buNone/>
              <a:defRPr sz="7200" cap="all" spc="-100" baseline="0">
                <a:solidFill>
                  <a:schemeClr val="accent1"/>
                </a:solidFill>
                <a:latin typeface="+mj-lt"/>
              </a:defRPr>
            </a:lvl1pPr>
            <a:lvl2pPr marL="457200" indent="0">
              <a:lnSpc>
                <a:spcPct val="80000"/>
              </a:lnSpc>
              <a:buNone/>
              <a:defRPr sz="7200" cap="all" baseline="0">
                <a:solidFill>
                  <a:schemeClr val="bg1"/>
                </a:solidFill>
                <a:latin typeface="+mj-lt"/>
              </a:defRPr>
            </a:lvl2pPr>
            <a:lvl3pPr marL="914400" indent="0">
              <a:lnSpc>
                <a:spcPct val="80000"/>
              </a:lnSpc>
              <a:buNone/>
              <a:defRPr sz="7200" cap="all" baseline="0">
                <a:solidFill>
                  <a:schemeClr val="bg1"/>
                </a:solidFill>
                <a:latin typeface="+mj-lt"/>
              </a:defRPr>
            </a:lvl3pPr>
            <a:lvl4pPr marL="1371600" indent="0">
              <a:lnSpc>
                <a:spcPct val="80000"/>
              </a:lnSpc>
              <a:buNone/>
              <a:defRPr sz="6600" cap="all" baseline="0">
                <a:solidFill>
                  <a:schemeClr val="bg1"/>
                </a:solidFill>
                <a:latin typeface="+mj-lt"/>
              </a:defRPr>
            </a:lvl4pPr>
            <a:lvl5pPr marL="1828800" indent="0">
              <a:lnSpc>
                <a:spcPct val="80000"/>
              </a:lnSpc>
              <a:buNone/>
              <a:defRPr sz="6600" cap="all" baseline="0">
                <a:solidFill>
                  <a:schemeClr val="bg1"/>
                </a:solidFill>
                <a:latin typeface="+mj-lt"/>
              </a:defRPr>
            </a:lvl5pPr>
          </a:lstStyle>
          <a:p>
            <a:pPr lvl="0"/>
            <a:r>
              <a:rPr lang="en-US"/>
              <a:t>Click to edit statement</a:t>
            </a:r>
          </a:p>
        </p:txBody>
      </p:sp>
      <p:cxnSp>
        <p:nvCxnSpPr>
          <p:cNvPr id="9" name="Straight Connector 8">
            <a:extLst>
              <a:ext uri="{FF2B5EF4-FFF2-40B4-BE49-F238E27FC236}">
                <a16:creationId xmlns:a16="http://schemas.microsoft.com/office/drawing/2014/main" id="{E9C1887E-643E-BB68-F557-E1EAB0A0A644}"/>
              </a:ext>
              <a:ext uri="{C183D7F6-B498-43B3-948B-1728B52AA6E4}">
                <adec:decorative xmlns:adec="http://schemas.microsoft.com/office/drawing/2017/decorative" val="1"/>
              </a:ext>
            </a:extLst>
          </p:cNvPr>
          <p:cNvCxnSpPr>
            <a:cxnSpLocks/>
          </p:cNvCxnSpPr>
          <p:nvPr/>
        </p:nvCxnSpPr>
        <p:spPr>
          <a:xfrm flipH="1">
            <a:off x="926297" y="685800"/>
            <a:ext cx="10326757" cy="0"/>
          </a:xfrm>
          <a:prstGeom prst="line">
            <a:avLst/>
          </a:prstGeom>
          <a:ln w="12700">
            <a:solidFill>
              <a:schemeClr val="bg1">
                <a:alpha val="47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501227"/>
            <a:ext cx="1907799" cy="365125"/>
          </a:xfrm>
          <a:solidFill>
            <a:schemeClr val="accent2">
              <a:lumMod val="60000"/>
              <a:lumOff val="40000"/>
            </a:schemeClr>
          </a:solidFill>
        </p:spPr>
        <p:txBody>
          <a:bodyPr/>
          <a:lstStyle>
            <a:lvl1pPr>
              <a:defRPr b="0" spc="0">
                <a:solidFill>
                  <a:schemeClr val="bg1"/>
                </a:solidFill>
              </a:defRPr>
            </a:lvl1pPr>
          </a:lstStyle>
          <a:p>
            <a:r>
              <a:rPr lang="en-US"/>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900458" y="501227"/>
            <a:ext cx="1256738" cy="365125"/>
          </a:xfrm>
          <a:solidFill>
            <a:schemeClr val="accent2">
              <a:lumMod val="60000"/>
              <a:lumOff val="40000"/>
            </a:schemeClr>
          </a:solidFill>
        </p:spPr>
        <p:txBody>
          <a:bodyPr/>
          <a:lstStyle>
            <a:lvl1pPr>
              <a:defRPr>
                <a:solidFill>
                  <a:schemeClr val="bg1"/>
                </a:solidFill>
              </a:defRPr>
            </a:lvl1pPr>
          </a:lstStyle>
          <a:p>
            <a:fld id="{90907655-BDED-4A88-9727-947E02456645}" type="datetimeFigureOut">
              <a:rPr lang="en-US" dirty="0"/>
              <a:t>8/15/2026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157196" y="501227"/>
            <a:ext cx="429372" cy="365125"/>
          </a:xfrm>
          <a:solidFill>
            <a:schemeClr val="accent2">
              <a:lumMod val="60000"/>
              <a:lumOff val="40000"/>
            </a:schemeClr>
          </a:solidFill>
        </p:spPr>
        <p:txBody>
          <a:bodyPr/>
          <a:lstStyle>
            <a:lvl1pPr>
              <a:defRPr>
                <a:solidFill>
                  <a:schemeClr val="bg1"/>
                </a:solidFill>
              </a:defRPr>
            </a:lvl1pPr>
          </a:lstStyle>
          <a:p>
            <a:fld id="{27F8DDA4-3B80-4E8A-A8F5-521F73BF9127}" type="slidenum">
              <a:rPr lang="en-US" dirty="0"/>
              <a:t>‹#›</a:t>
            </a:fld>
            <a:endParaRPr lang="en-US"/>
          </a:p>
        </p:txBody>
      </p:sp>
    </p:spTree>
    <p:extLst>
      <p:ext uri="{BB962C8B-B14F-4D97-AF65-F5344CB8AC3E}">
        <p14:creationId xmlns:p14="http://schemas.microsoft.com/office/powerpoint/2010/main" val="300849108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052C017-FC5C-A7A2-BA15-6C113717C33C}"/>
              </a:ext>
              <a:ext uri="{C183D7F6-B498-43B3-948B-1728B52AA6E4}">
                <adec:decorative xmlns:adec="http://schemas.microsoft.com/office/drawing/2017/decorative" val="1"/>
              </a:ext>
            </a:extLst>
          </p:cNvPr>
          <p:cNvSpPr/>
          <p:nvPr/>
        </p:nvSpPr>
        <p:spPr>
          <a:xfrm>
            <a:off x="0" y="0"/>
            <a:ext cx="12191999" cy="6858001"/>
          </a:xfrm>
          <a:prstGeom prst="rect">
            <a:avLst/>
          </a:prstGeom>
          <a:solidFill>
            <a:schemeClr val="accent3">
              <a:lumMod val="60000"/>
              <a:lumOff val="4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sp>
      <p:sp>
        <p:nvSpPr>
          <p:cNvPr id="8" name="Rectangle 7">
            <a:extLst>
              <a:ext uri="{FF2B5EF4-FFF2-40B4-BE49-F238E27FC236}">
                <a16:creationId xmlns:a16="http://schemas.microsoft.com/office/drawing/2014/main" id="{358D5F78-0179-D9C3-74D3-62CE152FFECE}"/>
              </a:ext>
              <a:ext uri="{C183D7F6-B498-43B3-948B-1728B52AA6E4}">
                <adec:decorative xmlns:adec="http://schemas.microsoft.com/office/drawing/2017/decorative" val="1"/>
              </a:ext>
            </a:extLst>
          </p:cNvPr>
          <p:cNvSpPr/>
          <p:nvPr/>
        </p:nvSpPr>
        <p:spPr>
          <a:xfrm>
            <a:off x="1" y="2"/>
            <a:ext cx="8763000" cy="5038338"/>
          </a:xfrm>
          <a:prstGeom prst="rect">
            <a:avLst/>
          </a:prstGeom>
          <a:solidFill>
            <a:schemeClr val="accent3">
              <a:lumMod val="40000"/>
              <a:lumOff val="6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sp>
      <p:cxnSp>
        <p:nvCxnSpPr>
          <p:cNvPr id="20" name="Straight Connector 19">
            <a:extLst>
              <a:ext uri="{FF2B5EF4-FFF2-40B4-BE49-F238E27FC236}">
                <a16:creationId xmlns:a16="http://schemas.microsoft.com/office/drawing/2014/main" id="{ABB386FE-4A21-B72A-BB2B-D4FDFDC3ECA5}"/>
              </a:ext>
              <a:ext uri="{C183D7F6-B498-43B3-948B-1728B52AA6E4}">
                <adec:decorative xmlns:adec="http://schemas.microsoft.com/office/drawing/2017/decorative" val="1"/>
              </a:ext>
            </a:extLst>
          </p:cNvPr>
          <p:cNvCxnSpPr>
            <a:cxnSpLocks/>
          </p:cNvCxnSpPr>
          <p:nvPr/>
        </p:nvCxnSpPr>
        <p:spPr>
          <a:xfrm flipH="1">
            <a:off x="722427" y="6212437"/>
            <a:ext cx="10808612" cy="0"/>
          </a:xfrm>
          <a:prstGeom prst="line">
            <a:avLst/>
          </a:prstGeom>
          <a:ln w="12700">
            <a:solidFill>
              <a:schemeClr val="accent5">
                <a:alpha val="45000"/>
              </a:schemeClr>
            </a:solidFill>
          </a:ln>
        </p:spPr>
        <p:style>
          <a:lnRef idx="1">
            <a:schemeClr val="accent1"/>
          </a:lnRef>
          <a:fillRef idx="0">
            <a:schemeClr val="accent1"/>
          </a:fillRef>
          <a:effectRef idx="0">
            <a:schemeClr val="accent1"/>
          </a:effectRef>
          <a:fontRef idx="minor">
            <a:schemeClr val="tx1"/>
          </a:fontRef>
        </p:style>
      </p:cxnSp>
      <p:sp>
        <p:nvSpPr>
          <p:cNvPr id="7" name="Title 6">
            <a:extLst>
              <a:ext uri="{FF2B5EF4-FFF2-40B4-BE49-F238E27FC236}">
                <a16:creationId xmlns:a16="http://schemas.microsoft.com/office/drawing/2014/main" id="{D4813FB1-9165-4DD7-C4C2-EAFC20602DB8}"/>
              </a:ext>
            </a:extLst>
          </p:cNvPr>
          <p:cNvSpPr>
            <a:spLocks noGrp="1"/>
          </p:cNvSpPr>
          <p:nvPr>
            <p:ph type="title" hasCustomPrompt="1"/>
          </p:nvPr>
        </p:nvSpPr>
        <p:spPr>
          <a:xfrm>
            <a:off x="4114800" y="5410203"/>
            <a:ext cx="7543800" cy="372746"/>
          </a:xfrm>
          <a:noFill/>
        </p:spPr>
        <p:txBody>
          <a:bodyPr tIns="91440" bIns="91440" anchor="ctr">
            <a:normAutofit/>
          </a:bodyPr>
          <a:lstStyle>
            <a:lvl1pPr algn="r">
              <a:defRPr sz="2000">
                <a:solidFill>
                  <a:schemeClr val="accent1"/>
                </a:solidFill>
              </a:defRPr>
            </a:lvl1pPr>
          </a:lstStyle>
          <a:p>
            <a:r>
              <a:rPr lang="en-US"/>
              <a:t>Quote Author</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603504" y="725556"/>
            <a:ext cx="8845296" cy="3656168"/>
          </a:xfrm>
        </p:spPr>
        <p:txBody>
          <a:bodyPr>
            <a:normAutofit/>
          </a:bodyPr>
          <a:lstStyle>
            <a:lvl1pPr marL="228600" indent="-228600">
              <a:lnSpc>
                <a:spcPct val="85000"/>
              </a:lnSpc>
              <a:spcBef>
                <a:spcPts val="0"/>
              </a:spcBef>
              <a:buNone/>
              <a:defRPr sz="5800" b="0" cap="all" spc="0" baseline="0">
                <a:solidFill>
                  <a:schemeClr val="accent5"/>
                </a:solidFill>
                <a:latin typeface="+mj-lt"/>
              </a:defRPr>
            </a:lvl1pPr>
          </a:lstStyle>
          <a:p>
            <a:pPr lvl="0"/>
            <a:r>
              <a:rPr lang="en-US"/>
              <a:t>Click to edit quote</a:t>
            </a:r>
          </a:p>
        </p:txBody>
      </p:sp>
      <p:sp>
        <p:nvSpPr>
          <p:cNvPr id="10" name="Footer Placeholder 9">
            <a:extLst>
              <a:ext uri="{FF2B5EF4-FFF2-40B4-BE49-F238E27FC236}">
                <a16:creationId xmlns:a16="http://schemas.microsoft.com/office/drawing/2014/main" id="{94F49A81-8721-B846-5567-52769C04D66C}"/>
              </a:ext>
            </a:extLst>
          </p:cNvPr>
          <p:cNvSpPr>
            <a:spLocks noGrp="1"/>
          </p:cNvSpPr>
          <p:nvPr>
            <p:ph type="ftr" sz="quarter" idx="11"/>
          </p:nvPr>
        </p:nvSpPr>
        <p:spPr>
          <a:xfrm>
            <a:off x="605430" y="6029868"/>
            <a:ext cx="1911096" cy="365125"/>
          </a:xfrm>
          <a:solidFill>
            <a:schemeClr val="accent3">
              <a:lumMod val="60000"/>
              <a:lumOff val="40000"/>
            </a:schemeClr>
          </a:solidFill>
        </p:spPr>
        <p:txBody>
          <a:bodyPr/>
          <a:lstStyle>
            <a:lvl1pPr>
              <a:defRPr b="0">
                <a:solidFill>
                  <a:schemeClr val="accent5"/>
                </a:solidFill>
                <a:latin typeface="+mn-lt"/>
              </a:defRPr>
            </a:lvl1pPr>
          </a:lstStyle>
          <a:p>
            <a:r>
              <a:rPr lang="en-US"/>
              <a:t>
              </a:t>
            </a:r>
          </a:p>
        </p:txBody>
      </p:sp>
      <p:sp>
        <p:nvSpPr>
          <p:cNvPr id="9" name="Date Placeholder 8">
            <a:extLst>
              <a:ext uri="{FF2B5EF4-FFF2-40B4-BE49-F238E27FC236}">
                <a16:creationId xmlns:a16="http://schemas.microsoft.com/office/drawing/2014/main" id="{FB3E54B7-FFB1-7BFC-0189-A17360728C52}"/>
              </a:ext>
            </a:extLst>
          </p:cNvPr>
          <p:cNvSpPr>
            <a:spLocks noGrp="1"/>
          </p:cNvSpPr>
          <p:nvPr>
            <p:ph type="dt" sz="half" idx="10"/>
          </p:nvPr>
        </p:nvSpPr>
        <p:spPr>
          <a:xfrm>
            <a:off x="9802368" y="6029868"/>
            <a:ext cx="1435608" cy="365125"/>
          </a:xfrm>
          <a:solidFill>
            <a:schemeClr val="accent3">
              <a:lumMod val="60000"/>
              <a:lumOff val="40000"/>
            </a:schemeClr>
          </a:solidFill>
        </p:spPr>
        <p:txBody>
          <a:bodyPr/>
          <a:lstStyle>
            <a:lvl1pPr>
              <a:defRPr b="0">
                <a:solidFill>
                  <a:schemeClr val="accent5"/>
                </a:solidFill>
                <a:latin typeface="+mn-lt"/>
              </a:defRPr>
            </a:lvl1pPr>
          </a:lstStyle>
          <a:p>
            <a:fld id="{D348C769-7AB4-4647-BD58-CC3E9CA66889}" type="datetimeFigureOut">
              <a:rPr lang="en-US" dirty="0"/>
              <a:t>8/15/2026</a:t>
            </a:fld>
            <a:endParaRPr lang="en-US"/>
          </a:p>
        </p:txBody>
      </p:sp>
      <p:sp>
        <p:nvSpPr>
          <p:cNvPr id="11" name="Slide Number Placeholder 10">
            <a:extLst>
              <a:ext uri="{FF2B5EF4-FFF2-40B4-BE49-F238E27FC236}">
                <a16:creationId xmlns:a16="http://schemas.microsoft.com/office/drawing/2014/main" id="{D1DF2706-0EDF-0D3B-C01B-613E7D1BB6CC}"/>
              </a:ext>
            </a:extLst>
          </p:cNvPr>
          <p:cNvSpPr>
            <a:spLocks noGrp="1"/>
          </p:cNvSpPr>
          <p:nvPr>
            <p:ph type="sldNum" sz="quarter" idx="12"/>
          </p:nvPr>
        </p:nvSpPr>
        <p:spPr>
          <a:solidFill>
            <a:schemeClr val="accent3">
              <a:lumMod val="60000"/>
              <a:lumOff val="40000"/>
            </a:schemeClr>
          </a:solidFill>
        </p:spPr>
        <p:txBody>
          <a:bodyPr/>
          <a:lstStyle>
            <a:lvl1pPr>
              <a:defRPr b="0">
                <a:solidFill>
                  <a:schemeClr val="accent5"/>
                </a:solidFill>
                <a:latin typeface="+mn-lt"/>
              </a:defRPr>
            </a:lvl1pPr>
          </a:lstStyle>
          <a:p>
            <a:fld id="{27F8DDA4-3B80-4E8A-A8F5-521F73BF9127}" type="slidenum">
              <a:rPr lang="en-US" dirty="0"/>
              <a:t>‹#›</a:t>
            </a:fld>
            <a:endParaRPr lang="en-US"/>
          </a:p>
        </p:txBody>
      </p:sp>
    </p:spTree>
    <p:extLst>
      <p:ext uri="{BB962C8B-B14F-4D97-AF65-F5344CB8AC3E}">
        <p14:creationId xmlns:p14="http://schemas.microsoft.com/office/powerpoint/2010/main" val="5723907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50773-1259-8F51-3561-DF3A80B264DE}"/>
              </a:ext>
            </a:extLst>
          </p:cNvPr>
          <p:cNvSpPr>
            <a:spLocks noGrp="1"/>
          </p:cNvSpPr>
          <p:nvPr>
            <p:ph type="title"/>
          </p:nvPr>
        </p:nvSpPr>
        <p:spPr>
          <a:xfrm>
            <a:off x="603504" y="521185"/>
            <a:ext cx="10902696" cy="1070849"/>
          </a:xfrm>
          <a:noFill/>
        </p:spPr>
        <p:txBody>
          <a:bodyPr/>
          <a:lstStyle/>
          <a:p>
            <a:r>
              <a:rPr lang="en-US"/>
              <a:t>Click to edit Master title style</a:t>
            </a:r>
          </a:p>
        </p:txBody>
      </p:sp>
      <p:sp>
        <p:nvSpPr>
          <p:cNvPr id="3" name="Content Placeholder 2">
            <a:extLst>
              <a:ext uri="{FF2B5EF4-FFF2-40B4-BE49-F238E27FC236}">
                <a16:creationId xmlns:a16="http://schemas.microsoft.com/office/drawing/2014/main" id="{F9C966CF-BE4B-28C8-6D17-E087E97C0E98}"/>
              </a:ext>
            </a:extLst>
          </p:cNvPr>
          <p:cNvSpPr>
            <a:spLocks noGrp="1"/>
          </p:cNvSpPr>
          <p:nvPr>
            <p:ph sz="half" idx="1"/>
          </p:nvPr>
        </p:nvSpPr>
        <p:spPr>
          <a:xfrm>
            <a:off x="605431" y="1756230"/>
            <a:ext cx="5181600" cy="40349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1559437-5037-4EE7-88FA-80C5AA0870F2}"/>
              </a:ext>
            </a:extLst>
          </p:cNvPr>
          <p:cNvSpPr>
            <a:spLocks noGrp="1"/>
          </p:cNvSpPr>
          <p:nvPr>
            <p:ph sz="half" idx="2"/>
          </p:nvPr>
        </p:nvSpPr>
        <p:spPr>
          <a:xfrm>
            <a:off x="6324600" y="1756230"/>
            <a:ext cx="5181600" cy="40349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68326746-DF44-9DEF-8471-A5E1F6CCC502}"/>
              </a:ext>
            </a:extLst>
          </p:cNvPr>
          <p:cNvSpPr>
            <a:spLocks noGrp="1"/>
          </p:cNvSpPr>
          <p:nvPr>
            <p:ph type="ftr" sz="quarter" idx="11"/>
          </p:nvPr>
        </p:nvSpPr>
        <p:spPr/>
        <p:txBody>
          <a:bodyPr/>
          <a:lstStyle/>
          <a:p>
            <a:r>
              <a:rPr lang="en-US"/>
              <a:t>
              </a:t>
            </a:r>
          </a:p>
        </p:txBody>
      </p:sp>
      <p:sp>
        <p:nvSpPr>
          <p:cNvPr id="5" name="Date Placeholder 4">
            <a:extLst>
              <a:ext uri="{FF2B5EF4-FFF2-40B4-BE49-F238E27FC236}">
                <a16:creationId xmlns:a16="http://schemas.microsoft.com/office/drawing/2014/main" id="{15850B58-64D5-F359-1AC8-3D57AA87BFBD}"/>
              </a:ext>
            </a:extLst>
          </p:cNvPr>
          <p:cNvSpPr>
            <a:spLocks noGrp="1"/>
          </p:cNvSpPr>
          <p:nvPr>
            <p:ph type="dt" sz="half" idx="10"/>
          </p:nvPr>
        </p:nvSpPr>
        <p:spPr/>
        <p:txBody>
          <a:bodyPr/>
          <a:lstStyle/>
          <a:p>
            <a:fld id="{B3C0EDEC-0890-4E6D-9DE0-ECAF543851A7}" type="datetimeFigureOut">
              <a:rPr lang="en-US" dirty="0"/>
              <a:t>8/15/2026</a:t>
            </a:fld>
            <a:endParaRPr lang="en-US"/>
          </a:p>
        </p:txBody>
      </p:sp>
      <p:sp>
        <p:nvSpPr>
          <p:cNvPr id="7" name="Slide Number Placeholder 6">
            <a:extLst>
              <a:ext uri="{FF2B5EF4-FFF2-40B4-BE49-F238E27FC236}">
                <a16:creationId xmlns:a16="http://schemas.microsoft.com/office/drawing/2014/main" id="{9F6A22FA-48E7-5BF5-6432-6C7A54D7E031}"/>
              </a:ext>
            </a:extLst>
          </p:cNvPr>
          <p:cNvSpPr>
            <a:spLocks noGrp="1"/>
          </p:cNvSpPr>
          <p:nvPr>
            <p:ph type="sldNum" sz="quarter" idx="12"/>
          </p:nvPr>
        </p:nvSpPr>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188447157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D8D87-72DE-A210-5C2D-570A1B01D41E}"/>
              </a:ext>
            </a:extLst>
          </p:cNvPr>
          <p:cNvSpPr>
            <a:spLocks noGrp="1"/>
          </p:cNvSpPr>
          <p:nvPr>
            <p:ph type="title"/>
          </p:nvPr>
        </p:nvSpPr>
        <p:spPr>
          <a:xfrm>
            <a:off x="603504" y="521206"/>
            <a:ext cx="10899648" cy="1069848"/>
          </a:xfrm>
          <a:noFill/>
        </p:spPr>
        <p:txBody>
          <a:bodyPr/>
          <a:lstStyle/>
          <a:p>
            <a:r>
              <a:rPr lang="en-US"/>
              <a:t>Click to edit Master title style</a:t>
            </a:r>
          </a:p>
        </p:txBody>
      </p:sp>
      <p:sp>
        <p:nvSpPr>
          <p:cNvPr id="3" name="Text Placeholder 2">
            <a:extLst>
              <a:ext uri="{FF2B5EF4-FFF2-40B4-BE49-F238E27FC236}">
                <a16:creationId xmlns:a16="http://schemas.microsoft.com/office/drawing/2014/main" id="{F73932A9-21A4-5A57-9D72-8C46993E6B11}"/>
              </a:ext>
            </a:extLst>
          </p:cNvPr>
          <p:cNvSpPr>
            <a:spLocks noGrp="1"/>
          </p:cNvSpPr>
          <p:nvPr>
            <p:ph type="body" idx="1"/>
          </p:nvPr>
        </p:nvSpPr>
        <p:spPr>
          <a:xfrm>
            <a:off x="605431" y="1631076"/>
            <a:ext cx="5157787" cy="709394"/>
          </a:xfrm>
        </p:spPr>
        <p:txBody>
          <a:bodyPr anchor="b">
            <a:normAutofit/>
          </a:bodyPr>
          <a:lstStyle>
            <a:lvl1pPr marL="0" indent="0">
              <a:buNone/>
              <a:defRPr sz="1800" b="1" cap="all" spc="50" baseline="0"/>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283D4B4-A366-E12D-19BB-C17B71466184}"/>
              </a:ext>
            </a:extLst>
          </p:cNvPr>
          <p:cNvSpPr>
            <a:spLocks noGrp="1"/>
          </p:cNvSpPr>
          <p:nvPr>
            <p:ph sz="half" idx="2"/>
          </p:nvPr>
        </p:nvSpPr>
        <p:spPr>
          <a:xfrm>
            <a:off x="605431" y="2372146"/>
            <a:ext cx="5157787" cy="34952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C06DAAF-1A05-D83C-70C1-CEADA4EB7389}"/>
              </a:ext>
            </a:extLst>
          </p:cNvPr>
          <p:cNvSpPr>
            <a:spLocks noGrp="1"/>
          </p:cNvSpPr>
          <p:nvPr>
            <p:ph type="body" sz="quarter" idx="3"/>
          </p:nvPr>
        </p:nvSpPr>
        <p:spPr>
          <a:xfrm>
            <a:off x="6324600" y="1631076"/>
            <a:ext cx="5183188" cy="709393"/>
          </a:xfrm>
        </p:spPr>
        <p:txBody>
          <a:bodyPr anchor="b">
            <a:normAutofit/>
          </a:bodyPr>
          <a:lstStyle>
            <a:lvl1pPr marL="0" indent="0">
              <a:buNone/>
              <a:defRPr sz="1800" b="1" cap="all" spc="50" baseline="0"/>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FE7B13-3453-6313-B416-E9FF9DA2E010}"/>
              </a:ext>
            </a:extLst>
          </p:cNvPr>
          <p:cNvSpPr>
            <a:spLocks noGrp="1"/>
          </p:cNvSpPr>
          <p:nvPr>
            <p:ph sz="quarter" idx="4"/>
          </p:nvPr>
        </p:nvSpPr>
        <p:spPr>
          <a:xfrm>
            <a:off x="6324600" y="2372146"/>
            <a:ext cx="5183188" cy="34952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3061BE2D-E1A3-1A5C-AE37-9DC52A9717B7}"/>
              </a:ext>
            </a:extLst>
          </p:cNvPr>
          <p:cNvSpPr>
            <a:spLocks noGrp="1"/>
          </p:cNvSpPr>
          <p:nvPr>
            <p:ph type="ftr" sz="quarter" idx="11"/>
          </p:nvPr>
        </p:nvSpPr>
        <p:spPr/>
        <p:txBody>
          <a:bodyPr/>
          <a:lstStyle/>
          <a:p>
            <a:r>
              <a:rPr lang="en-US"/>
              <a:t>
              </a:t>
            </a:r>
          </a:p>
        </p:txBody>
      </p:sp>
      <p:sp>
        <p:nvSpPr>
          <p:cNvPr id="7" name="Date Placeholder 6">
            <a:extLst>
              <a:ext uri="{FF2B5EF4-FFF2-40B4-BE49-F238E27FC236}">
                <a16:creationId xmlns:a16="http://schemas.microsoft.com/office/drawing/2014/main" id="{71D5902D-DF04-F2A8-C2F8-EBDD2A897D21}"/>
              </a:ext>
            </a:extLst>
          </p:cNvPr>
          <p:cNvSpPr>
            <a:spLocks noGrp="1"/>
          </p:cNvSpPr>
          <p:nvPr>
            <p:ph type="dt" sz="half" idx="10"/>
          </p:nvPr>
        </p:nvSpPr>
        <p:spPr/>
        <p:txBody>
          <a:bodyPr/>
          <a:lstStyle/>
          <a:p>
            <a:fld id="{2DD88318-BA47-4AD0-805B-25EB53D81BBB}" type="datetimeFigureOut">
              <a:rPr lang="en-US" dirty="0"/>
              <a:t>8/15/2026</a:t>
            </a:fld>
            <a:endParaRPr lang="en-US"/>
          </a:p>
        </p:txBody>
      </p:sp>
      <p:sp>
        <p:nvSpPr>
          <p:cNvPr id="9" name="Slide Number Placeholder 8">
            <a:extLst>
              <a:ext uri="{FF2B5EF4-FFF2-40B4-BE49-F238E27FC236}">
                <a16:creationId xmlns:a16="http://schemas.microsoft.com/office/drawing/2014/main" id="{DA4FDDA8-940A-B407-4EB2-85DC9BEDB476}"/>
              </a:ext>
            </a:extLst>
          </p:cNvPr>
          <p:cNvSpPr>
            <a:spLocks noGrp="1"/>
          </p:cNvSpPr>
          <p:nvPr>
            <p:ph type="sldNum" sz="quarter" idx="12"/>
          </p:nvPr>
        </p:nvSpPr>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329579093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151FC-CD6F-656F-54A8-59B782BEFB30}"/>
              </a:ext>
            </a:extLst>
          </p:cNvPr>
          <p:cNvSpPr>
            <a:spLocks noGrp="1"/>
          </p:cNvSpPr>
          <p:nvPr>
            <p:ph type="title"/>
          </p:nvPr>
        </p:nvSpPr>
        <p:spPr>
          <a:xfrm>
            <a:off x="603504" y="265176"/>
            <a:ext cx="11028923" cy="1325880"/>
          </a:xfrm>
          <a:noFill/>
        </p:spPr>
        <p:txBody>
          <a:bodyPr/>
          <a:lstStyle/>
          <a:p>
            <a:r>
              <a:rPr lang="en-US"/>
              <a:t>Click to edit Master title style</a:t>
            </a:r>
          </a:p>
        </p:txBody>
      </p:sp>
      <p:sp>
        <p:nvSpPr>
          <p:cNvPr id="4" name="Footer Placeholder 3">
            <a:extLst>
              <a:ext uri="{FF2B5EF4-FFF2-40B4-BE49-F238E27FC236}">
                <a16:creationId xmlns:a16="http://schemas.microsoft.com/office/drawing/2014/main" id="{D07D307A-FF1F-38A3-7DE5-F11DC31CA5B8}"/>
              </a:ext>
            </a:extLst>
          </p:cNvPr>
          <p:cNvSpPr>
            <a:spLocks noGrp="1"/>
          </p:cNvSpPr>
          <p:nvPr>
            <p:ph type="ftr" sz="quarter" idx="11"/>
          </p:nvPr>
        </p:nvSpPr>
        <p:spPr/>
        <p:txBody>
          <a:bodyPr/>
          <a:lstStyle/>
          <a:p>
            <a:r>
              <a:rPr lang="en-US"/>
              <a:t>
              </a:t>
            </a:r>
          </a:p>
        </p:txBody>
      </p:sp>
      <p:sp>
        <p:nvSpPr>
          <p:cNvPr id="3" name="Date Placeholder 2">
            <a:extLst>
              <a:ext uri="{FF2B5EF4-FFF2-40B4-BE49-F238E27FC236}">
                <a16:creationId xmlns:a16="http://schemas.microsoft.com/office/drawing/2014/main" id="{1E4C539B-20CB-8D83-0ECC-5F682BD06D6F}"/>
              </a:ext>
            </a:extLst>
          </p:cNvPr>
          <p:cNvSpPr>
            <a:spLocks noGrp="1"/>
          </p:cNvSpPr>
          <p:nvPr>
            <p:ph type="dt" sz="half" idx="10"/>
          </p:nvPr>
        </p:nvSpPr>
        <p:spPr/>
        <p:txBody>
          <a:bodyPr/>
          <a:lstStyle/>
          <a:p>
            <a:fld id="{30AD3F20-2AB6-4A04-8E99-A7FB006776B6}" type="datetimeFigureOut">
              <a:rPr lang="en-US" dirty="0"/>
              <a:t>8/15/2026</a:t>
            </a:fld>
            <a:endParaRPr lang="en-US"/>
          </a:p>
        </p:txBody>
      </p:sp>
      <p:sp>
        <p:nvSpPr>
          <p:cNvPr id="5" name="Slide Number Placeholder 4">
            <a:extLst>
              <a:ext uri="{FF2B5EF4-FFF2-40B4-BE49-F238E27FC236}">
                <a16:creationId xmlns:a16="http://schemas.microsoft.com/office/drawing/2014/main" id="{466EB674-912E-381A-49CE-08E49DFF46A7}"/>
              </a:ext>
            </a:extLst>
          </p:cNvPr>
          <p:cNvSpPr>
            <a:spLocks noGrp="1"/>
          </p:cNvSpPr>
          <p:nvPr>
            <p:ph type="sldNum" sz="quarter" idx="12"/>
          </p:nvPr>
        </p:nvSpPr>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64723211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2FA0B77-3CB1-4071-30F6-B0766D75C10A}"/>
              </a:ext>
            </a:extLst>
          </p:cNvPr>
          <p:cNvSpPr>
            <a:spLocks noGrp="1"/>
          </p:cNvSpPr>
          <p:nvPr>
            <p:ph type="ftr" sz="quarter" idx="11"/>
          </p:nvPr>
        </p:nvSpPr>
        <p:spPr/>
        <p:txBody>
          <a:bodyPr/>
          <a:lstStyle/>
          <a:p>
            <a:r>
              <a:rPr lang="en-US"/>
              <a:t>
              </a:t>
            </a:r>
          </a:p>
        </p:txBody>
      </p:sp>
      <p:sp>
        <p:nvSpPr>
          <p:cNvPr id="2" name="Date Placeholder 1">
            <a:extLst>
              <a:ext uri="{FF2B5EF4-FFF2-40B4-BE49-F238E27FC236}">
                <a16:creationId xmlns:a16="http://schemas.microsoft.com/office/drawing/2014/main" id="{4B4A81A7-FC7B-1689-D59F-4173A1763CB9}"/>
              </a:ext>
            </a:extLst>
          </p:cNvPr>
          <p:cNvSpPr>
            <a:spLocks noGrp="1"/>
          </p:cNvSpPr>
          <p:nvPr>
            <p:ph type="dt" sz="half" idx="10"/>
          </p:nvPr>
        </p:nvSpPr>
        <p:spPr/>
        <p:txBody>
          <a:bodyPr/>
          <a:lstStyle/>
          <a:p>
            <a:fld id="{3AEA2087-1351-4A66-BC4B-B8C73F209E6A}" type="datetimeFigureOut">
              <a:rPr lang="en-US" dirty="0"/>
              <a:t>8/15/2026</a:t>
            </a:fld>
            <a:endParaRPr lang="en-US"/>
          </a:p>
        </p:txBody>
      </p:sp>
      <p:sp>
        <p:nvSpPr>
          <p:cNvPr id="4" name="Slide Number Placeholder 3">
            <a:extLst>
              <a:ext uri="{FF2B5EF4-FFF2-40B4-BE49-F238E27FC236}">
                <a16:creationId xmlns:a16="http://schemas.microsoft.com/office/drawing/2014/main" id="{5D080D98-2C9A-3434-E8A3-DA6CCD2F5EFE}"/>
              </a:ext>
            </a:extLst>
          </p:cNvPr>
          <p:cNvSpPr>
            <a:spLocks noGrp="1"/>
          </p:cNvSpPr>
          <p:nvPr>
            <p:ph type="sldNum" sz="quarter" idx="12"/>
          </p:nvPr>
        </p:nvSpPr>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3010781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8073289-DB44-2F27-575B-3B0123960D1D}"/>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lumMod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sp>
      <p:sp>
        <p:nvSpPr>
          <p:cNvPr id="14" name="Rectangle 13">
            <a:extLst>
              <a:ext uri="{FF2B5EF4-FFF2-40B4-BE49-F238E27FC236}">
                <a16:creationId xmlns:a16="http://schemas.microsoft.com/office/drawing/2014/main" id="{8F22766A-BE9C-B780-CC66-44ECFC5C0A47}"/>
              </a:ext>
              <a:ext uri="{C183D7F6-B498-43B3-948B-1728B52AA6E4}">
                <adec:decorative xmlns:adec="http://schemas.microsoft.com/office/drawing/2017/decorative" val="1"/>
              </a:ext>
            </a:extLst>
          </p:cNvPr>
          <p:cNvSpPr/>
          <p:nvPr/>
        </p:nvSpPr>
        <p:spPr>
          <a:xfrm>
            <a:off x="2057400" y="3084659"/>
            <a:ext cx="10133956" cy="3773341"/>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146306" y="182881"/>
            <a:ext cx="8616684" cy="1874520"/>
          </a:xfrm>
          <a:noFill/>
        </p:spPr>
        <p:txBody>
          <a:bodyPr anchor="t">
            <a:normAutofit/>
          </a:bodyPr>
          <a:lstStyle>
            <a:lvl1pPr>
              <a:defRPr sz="9600">
                <a:solidFill>
                  <a:schemeClr val="accent2"/>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9753600" y="617923"/>
            <a:ext cx="1866897" cy="461881"/>
          </a:xfrm>
          <a:noFill/>
        </p:spPr>
        <p:txBody>
          <a:bodyPr anchor="t"/>
          <a:lstStyle>
            <a:lvl1pPr algn="r">
              <a:defRPr sz="900"/>
            </a:lvl1pPr>
          </a:lstStyle>
          <a:p>
            <a:r>
              <a:rPr lang="en-US"/>
              <a:t>
              </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2595846" y="3544866"/>
            <a:ext cx="8990722" cy="2446782"/>
          </a:xfrm>
        </p:spPr>
        <p:txBody>
          <a:bodyPr>
            <a:normAutofit/>
          </a:bodyPr>
          <a:lstStyle>
            <a:lvl1pPr marL="0" indent="0">
              <a:buClr>
                <a:schemeClr val="tx2"/>
              </a:buClr>
              <a:buFont typeface="Arial" panose="020B0604020202020204" pitchFamily="34" charset="0"/>
              <a:buNone/>
              <a:defRPr sz="1800"/>
            </a:lvl1pPr>
            <a:lvl2pPr marL="457200" indent="0">
              <a:buClr>
                <a:schemeClr val="tx2"/>
              </a:buClr>
              <a:buFont typeface="Arial" panose="020B0604020202020204" pitchFamily="34" charset="0"/>
              <a:buNone/>
              <a:defRPr sz="1600"/>
            </a:lvl2pPr>
            <a:lvl3pPr marL="914400" indent="0">
              <a:buClr>
                <a:schemeClr val="tx2"/>
              </a:buClr>
              <a:buFont typeface="Arial" panose="020B0604020202020204" pitchFamily="34" charset="0"/>
              <a:buNone/>
              <a:defRPr sz="1400"/>
            </a:lvl3pPr>
            <a:lvl4pPr marL="1371600" indent="0">
              <a:buClr>
                <a:schemeClr val="tx2"/>
              </a:buClr>
              <a:buFont typeface="Arial" panose="020B0604020202020204" pitchFamily="34" charset="0"/>
              <a:buNone/>
              <a:defRPr sz="1200"/>
            </a:lvl4pPr>
            <a:lvl5pPr marL="1828800" indent="0">
              <a:buClr>
                <a:schemeClr val="tx2"/>
              </a:buClr>
              <a:buFont typeface="Arial" panose="020B0604020202020204" pitchFamily="34" charse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2595846" y="6024816"/>
            <a:ext cx="1809495" cy="365125"/>
          </a:xfrm>
          <a:solidFill>
            <a:schemeClr val="bg2"/>
          </a:solidFill>
        </p:spPr>
        <p:txBody>
          <a:bodyPr/>
          <a:lstStyle>
            <a:lvl1pPr algn="l">
              <a:defRPr/>
            </a:lvl1pPr>
          </a:lstStyle>
          <a:p>
            <a:fld id="{A8EB468F-DE53-43FF-8B87-9F03EBF19C21}" type="datetimeFigureOut">
              <a:rPr lang="en-US" dirty="0"/>
              <a:t>8/15/2026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solidFill>
            <a:schemeClr val="bg2"/>
          </a:solidFill>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278557428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clusion 2">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8073289-DB44-2F27-575B-3B0123960D1D}"/>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sp>
      <p:sp>
        <p:nvSpPr>
          <p:cNvPr id="7" name="Rectangle 6">
            <a:extLst>
              <a:ext uri="{FF2B5EF4-FFF2-40B4-BE49-F238E27FC236}">
                <a16:creationId xmlns:a16="http://schemas.microsoft.com/office/drawing/2014/main" id="{072AC4BE-2FD3-AAF4-8A1B-0633F1BEE33B}"/>
              </a:ext>
              <a:ext uri="{C183D7F6-B498-43B3-948B-1728B52AA6E4}">
                <adec:decorative xmlns:adec="http://schemas.microsoft.com/office/drawing/2017/decorative" val="1"/>
              </a:ext>
            </a:extLst>
          </p:cNvPr>
          <p:cNvSpPr/>
          <p:nvPr/>
        </p:nvSpPr>
        <p:spPr>
          <a:xfrm>
            <a:off x="0" y="0"/>
            <a:ext cx="8436077" cy="2057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sp>
      <p:cxnSp>
        <p:nvCxnSpPr>
          <p:cNvPr id="11" name="Straight Connector 10">
            <a:extLst>
              <a:ext uri="{FF2B5EF4-FFF2-40B4-BE49-F238E27FC236}">
                <a16:creationId xmlns:a16="http://schemas.microsoft.com/office/drawing/2014/main" id="{7652D305-42E1-E86E-632C-9DFD4F747E62}"/>
              </a:ext>
              <a:ext uri="{C183D7F6-B498-43B3-948B-1728B52AA6E4}">
                <adec:decorative xmlns:adec="http://schemas.microsoft.com/office/drawing/2017/decorative" val="1"/>
              </a:ext>
            </a:extLst>
          </p:cNvPr>
          <p:cNvCxnSpPr>
            <a:cxnSpLocks/>
          </p:cNvCxnSpPr>
          <p:nvPr/>
        </p:nvCxnSpPr>
        <p:spPr>
          <a:xfrm>
            <a:off x="685800" y="4564627"/>
            <a:ext cx="5068016"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373625" y="530940"/>
            <a:ext cx="7703576" cy="1308290"/>
          </a:xfrm>
          <a:noFill/>
        </p:spPr>
        <p:txBody>
          <a:bodyPr anchor="t">
            <a:normAutofit/>
          </a:bodyPr>
          <a:lstStyle>
            <a:lvl1pPr>
              <a:defRPr sz="8000">
                <a:solidFill>
                  <a:schemeClr val="accent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37005" y="3571531"/>
            <a:ext cx="5009534" cy="1987694"/>
          </a:xfrm>
        </p:spPr>
        <p:txBody>
          <a:bodyPr anchor="ctr">
            <a:normAutofit/>
          </a:bodyPr>
          <a:lstStyle>
            <a:lvl1pPr marL="0" indent="0">
              <a:buClr>
                <a:schemeClr val="tx2"/>
              </a:buClr>
              <a:buFont typeface="Arial" panose="020B0604020202020204" pitchFamily="34" charset="0"/>
              <a:buNone/>
              <a:defRPr sz="1800"/>
            </a:lvl1pPr>
            <a:lvl2pPr marL="457200" indent="0">
              <a:buClr>
                <a:schemeClr val="tx2"/>
              </a:buClr>
              <a:buFont typeface="Arial" panose="020B0604020202020204" pitchFamily="34" charset="0"/>
              <a:buNone/>
              <a:defRPr sz="1600"/>
            </a:lvl2pPr>
            <a:lvl3pPr marL="914400" indent="0">
              <a:buClr>
                <a:schemeClr val="tx2"/>
              </a:buClr>
              <a:buFont typeface="Arial" panose="020B0604020202020204" pitchFamily="34" charset="0"/>
              <a:buNone/>
              <a:defRPr sz="1400"/>
            </a:lvl3pPr>
            <a:lvl4pPr marL="1371600" indent="0">
              <a:buClr>
                <a:schemeClr val="tx2"/>
              </a:buClr>
              <a:buFont typeface="Arial" panose="020B0604020202020204" pitchFamily="34" charset="0"/>
              <a:buNone/>
              <a:defRPr sz="1200"/>
            </a:lvl4pPr>
            <a:lvl5pPr marL="1828800" indent="0">
              <a:buClr>
                <a:schemeClr val="tx2"/>
              </a:buClr>
              <a:buFont typeface="Arial" panose="020B0604020202020204" pitchFamily="34" charse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0" y="6029867"/>
            <a:ext cx="1911096" cy="365126"/>
          </a:xfrm>
          <a:noFill/>
        </p:spPr>
        <p:txBody>
          <a:bodyPr anchor="ctr"/>
          <a:lstStyle>
            <a:lvl1pPr algn="l">
              <a:defRPr sz="900" b="1"/>
            </a:lvl1pPr>
          </a:lstStyle>
          <a:p>
            <a:r>
              <a:rPr lang="en-US"/>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799320" y="6029867"/>
            <a:ext cx="1441766" cy="365125"/>
          </a:xfrm>
          <a:noFill/>
        </p:spPr>
        <p:txBody>
          <a:bodyPr/>
          <a:lstStyle>
            <a:lvl1pPr algn="r">
              <a:defRPr/>
            </a:lvl1pPr>
          </a:lstStyle>
          <a:p>
            <a:fld id="{77D9A748-B116-46F1-81D5-0BE225FE4EB1}" type="datetimeFigureOut">
              <a:rPr lang="en-US" dirty="0"/>
              <a:t>8/15/2026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276419734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8/15/2026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330581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8/15/2026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09272267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8/15/2026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94751242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8/15/2026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5304116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FBAF5C3-82B6-427E-5D2E-900A2D90AD99}"/>
              </a:ext>
              <a:ext uri="{C183D7F6-B498-43B3-948B-1728B52AA6E4}">
                <adec:decorative xmlns:adec="http://schemas.microsoft.com/office/drawing/2017/decorative" val="1"/>
              </a:ext>
            </a:extLst>
          </p:cNvPr>
          <p:cNvCxnSpPr>
            <a:cxnSpLocks/>
          </p:cNvCxnSpPr>
          <p:nvPr/>
        </p:nvCxnSpPr>
        <p:spPr>
          <a:xfrm flipH="1">
            <a:off x="722427" y="6212437"/>
            <a:ext cx="10808612"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301AA792-727F-F91C-6564-A882FAF11ED4}"/>
              </a:ext>
            </a:extLst>
          </p:cNvPr>
          <p:cNvSpPr>
            <a:spLocks noGrp="1"/>
          </p:cNvSpPr>
          <p:nvPr>
            <p:ph type="title"/>
          </p:nvPr>
        </p:nvSpPr>
        <p:spPr>
          <a:xfrm>
            <a:off x="603504" y="351270"/>
            <a:ext cx="10981137" cy="1239720"/>
          </a:xfrm>
          <a:prstGeom prst="rect">
            <a:avLst/>
          </a:prstGeom>
          <a:solidFill>
            <a:schemeClr val="bg1"/>
          </a:solidFill>
        </p:spPr>
        <p:txBody>
          <a:bodyPr vert="horz" lIns="91440" tIns="45720" rIns="91440" bIns="13716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3390A246-77A4-EC4C-28B8-90388BB8E78F}"/>
              </a:ext>
            </a:extLst>
          </p:cNvPr>
          <p:cNvSpPr>
            <a:spLocks noGrp="1"/>
          </p:cNvSpPr>
          <p:nvPr>
            <p:ph type="body" idx="1"/>
          </p:nvPr>
        </p:nvSpPr>
        <p:spPr>
          <a:xfrm>
            <a:off x="605431" y="1745956"/>
            <a:ext cx="10981137" cy="39834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3EF6714-5B6F-439F-4173-D51823712315}"/>
              </a:ext>
            </a:extLst>
          </p:cNvPr>
          <p:cNvSpPr>
            <a:spLocks noGrp="1"/>
          </p:cNvSpPr>
          <p:nvPr>
            <p:ph type="ftr" sz="quarter" idx="3"/>
          </p:nvPr>
        </p:nvSpPr>
        <p:spPr>
          <a:xfrm>
            <a:off x="605430" y="6029868"/>
            <a:ext cx="1911096" cy="365125"/>
          </a:xfrm>
          <a:prstGeom prst="rect">
            <a:avLst/>
          </a:prstGeom>
          <a:solidFill>
            <a:schemeClr val="bg1"/>
          </a:solidFill>
        </p:spPr>
        <p:txBody>
          <a:bodyPr vert="horz" lIns="91440" tIns="45720" rIns="91440" bIns="45720" rtlCol="0" anchor="ctr"/>
          <a:lstStyle>
            <a:lvl1pPr algn="l">
              <a:defRPr sz="900" b="1" cap="all" spc="60" baseline="0">
                <a:solidFill>
                  <a:schemeClr val="tx2"/>
                </a:solidFill>
              </a:defRPr>
            </a:lvl1pPr>
          </a:lstStyle>
          <a:p>
            <a:r>
              <a:rPr lang="en-US"/>
              <a:t>
              </a:t>
            </a:r>
          </a:p>
        </p:txBody>
      </p:sp>
      <p:sp>
        <p:nvSpPr>
          <p:cNvPr id="4" name="Date Placeholder 3">
            <a:extLst>
              <a:ext uri="{FF2B5EF4-FFF2-40B4-BE49-F238E27FC236}">
                <a16:creationId xmlns:a16="http://schemas.microsoft.com/office/drawing/2014/main" id="{BF9842E6-B4ED-431B-B1A0-22352BA620AE}"/>
              </a:ext>
            </a:extLst>
          </p:cNvPr>
          <p:cNvSpPr>
            <a:spLocks noGrp="1"/>
          </p:cNvSpPr>
          <p:nvPr>
            <p:ph type="dt" sz="half" idx="2"/>
          </p:nvPr>
        </p:nvSpPr>
        <p:spPr>
          <a:xfrm>
            <a:off x="10058400" y="6029868"/>
            <a:ext cx="1182686" cy="365125"/>
          </a:xfrm>
          <a:prstGeom prst="rect">
            <a:avLst/>
          </a:prstGeom>
          <a:solidFill>
            <a:schemeClr val="bg1"/>
          </a:solidFill>
        </p:spPr>
        <p:txBody>
          <a:bodyPr vert="horz" lIns="91440" tIns="45720" rIns="91440" bIns="45720" rtlCol="0" anchor="ctr"/>
          <a:lstStyle>
            <a:lvl1pPr algn="r">
              <a:defRPr sz="900" cap="all" baseline="0">
                <a:solidFill>
                  <a:schemeClr val="tx2"/>
                </a:solidFill>
              </a:defRPr>
            </a:lvl1pPr>
          </a:lstStyle>
          <a:p>
            <a:fld id="{82B9AEC8-204B-4AD5-8041-BCAF36A74EBE}" type="datetimeFigureOut">
              <a:rPr lang="en-US" dirty="0"/>
              <a:t>8/15/2026</a:t>
            </a:fld>
            <a:endParaRPr lang="en-US"/>
          </a:p>
        </p:txBody>
      </p:sp>
      <p:sp>
        <p:nvSpPr>
          <p:cNvPr id="6" name="Slide Number Placeholder 5">
            <a:extLst>
              <a:ext uri="{FF2B5EF4-FFF2-40B4-BE49-F238E27FC236}">
                <a16:creationId xmlns:a16="http://schemas.microsoft.com/office/drawing/2014/main" id="{156743A1-0EE5-84FA-44EE-3CDDB793AAC4}"/>
              </a:ext>
            </a:extLst>
          </p:cNvPr>
          <p:cNvSpPr>
            <a:spLocks noGrp="1"/>
          </p:cNvSpPr>
          <p:nvPr>
            <p:ph type="sldNum" sz="quarter" idx="4"/>
          </p:nvPr>
        </p:nvSpPr>
        <p:spPr>
          <a:xfrm>
            <a:off x="11233434" y="6029868"/>
            <a:ext cx="429372" cy="365125"/>
          </a:xfrm>
          <a:prstGeom prst="rect">
            <a:avLst/>
          </a:prstGeom>
          <a:solidFill>
            <a:schemeClr val="bg1"/>
          </a:solidFill>
        </p:spPr>
        <p:txBody>
          <a:bodyPr vert="horz" lIns="91440" tIns="45720" rIns="91440" bIns="45720" rtlCol="0" anchor="ctr"/>
          <a:lstStyle>
            <a:lvl1pPr algn="r">
              <a:defRPr sz="900" cap="all" baseline="0">
                <a:solidFill>
                  <a:schemeClr val="tx2"/>
                </a:solidFill>
              </a:defRPr>
            </a:lvl1pPr>
          </a:lstStyle>
          <a:p>
            <a:fld id="{27F8DDA4-3B80-4E8A-A8F5-521F73BF9127}" type="slidenum">
              <a:rPr lang="en-US" dirty="0"/>
              <a:t>‹#›</a:t>
            </a:fld>
            <a:endParaRPr lang="en-US"/>
          </a:p>
        </p:txBody>
      </p:sp>
    </p:spTree>
    <p:extLst>
      <p:ext uri="{BB962C8B-B14F-4D97-AF65-F5344CB8AC3E}">
        <p14:creationId xmlns:p14="http://schemas.microsoft.com/office/powerpoint/2010/main" val="259003515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 id="2147483692" r:id="rId20"/>
    <p:sldLayoutId id="2147483693" r:id="rId21"/>
    <p:sldLayoutId id="2147483694" r:id="rId22"/>
    <p:sldLayoutId id="2147483695" r:id="rId23"/>
    <p:sldLayoutId id="2147483696" r:id="rId24"/>
    <p:sldLayoutId id="2147483697" r:id="rId25"/>
    <p:sldLayoutId id="2147483698" r:id="rId26"/>
    <p:sldLayoutId id="2147483699" r:id="rId27"/>
    <p:sldLayoutId id="2147483700" r:id="rId28"/>
    <p:sldLayoutId id="2147483701" r:id="rId29"/>
    <p:sldLayoutId id="2147483702" r:id="rId30"/>
    <p:sldLayoutId id="2147483703" r:id="rId31"/>
  </p:sldLayoutIdLst>
  <p:hf hdr="0"/>
  <p:txStyles>
    <p:titleStyle>
      <a:lvl1pPr marL="0" algn="l" defTabSz="914400" rtl="0" eaLnBrk="1" latinLnBrk="0" hangingPunct="1">
        <a:lnSpc>
          <a:spcPct val="100000"/>
        </a:lnSpc>
        <a:spcBef>
          <a:spcPct val="0"/>
        </a:spcBef>
        <a:spcAft>
          <a:spcPts val="0"/>
        </a:spcAft>
        <a:buNone/>
        <a:defRPr sz="2800" kern="1200" cap="all" baseline="0">
          <a:solidFill>
            <a:schemeClr val="accent5"/>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864" userDrawn="1">
          <p15:clr>
            <a:srgbClr val="F26B43"/>
          </p15:clr>
        </p15:guide>
        <p15:guide id="3" pos="432" userDrawn="1">
          <p15:clr>
            <a:srgbClr val="F26B43"/>
          </p15:clr>
        </p15:guide>
        <p15:guide id="4" orient="horz" pos="3912" userDrawn="1">
          <p15:clr>
            <a:srgbClr val="F26B43"/>
          </p15:clr>
        </p15:guide>
        <p15:guide id="5" orient="horz" pos="3504" userDrawn="1">
          <p15:clr>
            <a:srgbClr val="F26B43"/>
          </p15:clr>
        </p15:guide>
        <p15:guide id="6" orient="horz" pos="3024" userDrawn="1">
          <p15:clr>
            <a:srgbClr val="F26B43"/>
          </p15:clr>
        </p15:guide>
        <p15:guide id="7" orient="horz" pos="2592" userDrawn="1">
          <p15:clr>
            <a:srgbClr val="F26B43"/>
          </p15:clr>
        </p15:guide>
        <p15:guide id="8" orient="horz" pos="1728" userDrawn="1">
          <p15:clr>
            <a:srgbClr val="F26B43"/>
          </p15:clr>
        </p15:guide>
        <p15:guide id="9" orient="horz" pos="1296" userDrawn="1">
          <p15:clr>
            <a:srgbClr val="F26B43"/>
          </p15:clr>
        </p15:guide>
        <p15:guide id="10" orient="horz" pos="864" userDrawn="1">
          <p15:clr>
            <a:srgbClr val="F26B43"/>
          </p15:clr>
        </p15:guide>
        <p15:guide id="11" orient="horz" pos="432" userDrawn="1">
          <p15:clr>
            <a:srgbClr val="F26B43"/>
          </p15:clr>
        </p15:guide>
        <p15:guide id="12" pos="1296" userDrawn="1">
          <p15:clr>
            <a:srgbClr val="F26B43"/>
          </p15:clr>
        </p15:guide>
        <p15:guide id="13" pos="1728" userDrawn="1">
          <p15:clr>
            <a:srgbClr val="F26B43"/>
          </p15:clr>
        </p15:guide>
        <p15:guide id="18" pos="2160" userDrawn="1">
          <p15:clr>
            <a:srgbClr val="F26B43"/>
          </p15:clr>
        </p15:guide>
        <p15:guide id="20" pos="5520" userDrawn="1">
          <p15:clr>
            <a:srgbClr val="F26B43"/>
          </p15:clr>
        </p15:guide>
        <p15:guide id="21" pos="5952" userDrawn="1">
          <p15:clr>
            <a:srgbClr val="F26B43"/>
          </p15:clr>
        </p15:guide>
        <p15:guide id="22" pos="6384" userDrawn="1">
          <p15:clr>
            <a:srgbClr val="F26B43"/>
          </p15:clr>
        </p15:guide>
        <p15:guide id="24" pos="6816" userDrawn="1">
          <p15:clr>
            <a:srgbClr val="F26B43"/>
          </p15:clr>
        </p15:guide>
        <p15:guide id="25" pos="7248" userDrawn="1">
          <p15:clr>
            <a:srgbClr val="F26B43"/>
          </p15:clr>
        </p15:guide>
        <p15:guide id="26" pos="5088" userDrawn="1">
          <p15:clr>
            <a:srgbClr val="F26B43"/>
          </p15:clr>
        </p15:guide>
        <p15:guide id="27" pos="4656" userDrawn="1">
          <p15:clr>
            <a:srgbClr val="F26B43"/>
          </p15:clr>
        </p15:guide>
        <p15:guide id="28" pos="4224" userDrawn="1">
          <p15:clr>
            <a:srgbClr val="F26B43"/>
          </p15:clr>
        </p15:guide>
        <p15:guide id="29" pos="2592" userDrawn="1">
          <p15:clr>
            <a:srgbClr val="F26B43"/>
          </p15:clr>
        </p15:guide>
        <p15:guide id="30" pos="3024" userDrawn="1">
          <p15:clr>
            <a:srgbClr val="F26B43"/>
          </p15:clr>
        </p15:guide>
        <p15:guide id="31" pos="3456" userDrawn="1">
          <p15:clr>
            <a:srgbClr val="F26B43"/>
          </p15:clr>
        </p15:guide>
        <p15:guide id="32" orient="horz" pos="64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9.xml"/></Relationships>
</file>

<file path=ppt/slides/_rels/slide4.xml.rels><?xml version="1.0" encoding="UTF-8" standalone="yes"?>
<Relationships xmlns="http://schemas.openxmlformats.org/package/2006/relationships"><Relationship Id="rId3" Type="http://schemas.openxmlformats.org/officeDocument/2006/relationships/hyperlink" Target="https://datasets.imdbws.com/" TargetMode="External"/><Relationship Id="rId2" Type="http://schemas.openxmlformats.org/officeDocument/2006/relationships/hyperlink" Target="https://www.whats-on-netflix.com/most-popular/netflix-engagement-report-search/" TargetMode="External"/><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9.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1.xml"/></Relationships>
</file>

<file path=ppt/slides/_rels/slide1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3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Retention Rate for TV Shows on Netflix</a:t>
            </a:r>
          </a:p>
        </p:txBody>
      </p:sp>
      <p:sp>
        <p:nvSpPr>
          <p:cNvPr id="3" name="Subtitle 2"/>
          <p:cNvSpPr>
            <a:spLocks noGrp="1"/>
          </p:cNvSpPr>
          <p:nvPr>
            <p:ph type="subTitle" idx="1"/>
          </p:nvPr>
        </p:nvSpPr>
        <p:spPr/>
        <p:txBody>
          <a:bodyPr vert="horz" lIns="91440" tIns="45720" rIns="91440" bIns="45720" rtlCol="0" anchor="t">
            <a:normAutofit/>
          </a:bodyPr>
          <a:lstStyle/>
          <a:p>
            <a:r>
              <a:rPr lang="en-US" dirty="0"/>
              <a:t>Group 9: </a:t>
            </a:r>
          </a:p>
          <a:p>
            <a:r>
              <a:rPr lang="en-US" dirty="0"/>
              <a:t>Aatir Cheema, </a:t>
            </a:r>
            <a:r>
              <a:rPr lang="en-US" dirty="0">
                <a:latin typeface="Aptos"/>
                <a:cs typeface="Times New Roman"/>
              </a:rPr>
              <a:t>Shrirang Annasaheb Bhadgaonkar, Temitope </a:t>
            </a:r>
            <a:r>
              <a:rPr lang="en-US" dirty="0" err="1">
                <a:latin typeface="Aptos"/>
                <a:cs typeface="Times New Roman"/>
              </a:rPr>
              <a:t>Oluyomi</a:t>
            </a:r>
            <a:endParaRPr lang="en-US" dirty="0">
              <a:latin typeface="Aptos"/>
            </a:endParaRPr>
          </a:p>
        </p:txBody>
      </p:sp>
      <p:sp>
        <p:nvSpPr>
          <p:cNvPr id="4" name="Rectangle 3"/>
          <p:cNvSpPr/>
          <p:nvPr/>
        </p:nvSpPr>
        <p:spPr>
          <a:xfrm>
            <a:off x="5093208" y="5623560"/>
            <a:ext cx="2011680" cy="45720"/>
          </a:xfrm>
          <a:prstGeom prst="rect">
            <a:avLst/>
          </a:prstGeom>
          <a:solidFill>
            <a:srgbClr val="C06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5394960" y="5724144"/>
            <a:ext cx="201168" cy="201168"/>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5897880" y="5678424"/>
            <a:ext cx="292608" cy="292608"/>
          </a:xfrm>
          <a:prstGeom prst="ellipse">
            <a:avLst/>
          </a:prstGeom>
          <a:solidFill>
            <a:srgbClr val="C06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6400800" y="5618988"/>
            <a:ext cx="411480" cy="41148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099F6-F7AD-EDE0-642B-763471AEBC9A}"/>
              </a:ext>
            </a:extLst>
          </p:cNvPr>
          <p:cNvSpPr>
            <a:spLocks noGrp="1"/>
          </p:cNvSpPr>
          <p:nvPr>
            <p:ph type="title"/>
          </p:nvPr>
        </p:nvSpPr>
        <p:spPr/>
        <p:txBody>
          <a:bodyPr/>
          <a:lstStyle/>
          <a:p>
            <a:r>
              <a:rPr lang="en-US"/>
              <a:t>Why This Matters</a:t>
            </a:r>
          </a:p>
        </p:txBody>
      </p:sp>
      <p:sp>
        <p:nvSpPr>
          <p:cNvPr id="3" name="Content Placeholder 2">
            <a:extLst>
              <a:ext uri="{FF2B5EF4-FFF2-40B4-BE49-F238E27FC236}">
                <a16:creationId xmlns:a16="http://schemas.microsoft.com/office/drawing/2014/main" id="{72FE1A46-65EA-66DF-6570-0D45A68E143E}"/>
              </a:ext>
            </a:extLst>
          </p:cNvPr>
          <p:cNvSpPr>
            <a:spLocks noGrp="1"/>
          </p:cNvSpPr>
          <p:nvPr>
            <p:ph idx="1"/>
          </p:nvPr>
        </p:nvSpPr>
        <p:spPr>
          <a:xfrm>
            <a:off x="0" y="2191385"/>
            <a:ext cx="6309360" cy="0"/>
          </a:xfrm>
        </p:spPr>
        <p:txBody>
          <a:bodyPr vert="horz" wrap="square" lIns="91440" tIns="45720" rIns="91440" bIns="45720" rtlCol="0" anchor="t">
            <a:noAutofit/>
          </a:bodyPr>
          <a:lstStyle/>
          <a:p>
            <a:r>
              <a:rPr sz="1600"/>
              <a:t>Streaming platforms invest heavily in producing additional seasons of a show</a:t>
            </a:r>
            <a:endParaRPr lang="en-US" sz="1600"/>
          </a:p>
          <a:p>
            <a:r>
              <a:rPr sz="1600"/>
              <a:t>Season-to-season viewership is shaped by factors such as Season 1 rating, directors, viewership, show duration, viewership slope, and the time gap between seasons</a:t>
            </a:r>
          </a:p>
          <a:p>
            <a:r>
              <a:rPr sz="1600"/>
              <a:t>Some shows gain viewers in later seasons through positive reception, publicity, and growing popularity</a:t>
            </a:r>
          </a:p>
          <a:p>
            <a:r>
              <a:rPr sz="1600"/>
              <a:t>Other shows lose viewers due to declining interest, longer time gaps, or drops in quality</a:t>
            </a:r>
          </a:p>
          <a:p>
            <a:r>
              <a:rPr sz="1600"/>
              <a:t>Predicting the direction of viewership change can help streaming platforms, producers, and analysts better understand audience retention</a:t>
            </a:r>
          </a:p>
        </p:txBody>
      </p:sp>
      <p:sp>
        <p:nvSpPr>
          <p:cNvPr id="4" name="Rounded Rectangle 3"/>
          <p:cNvSpPr/>
          <p:nvPr/>
        </p:nvSpPr>
        <p:spPr>
          <a:xfrm>
            <a:off x="7498079" y="1965960"/>
            <a:ext cx="4023360" cy="1143000"/>
          </a:xfrm>
          <a:prstGeom prst="roundRect">
            <a:avLst/>
          </a:prstGeom>
          <a:solidFill>
            <a:srgbClr val="EEF2FA"/>
          </a:solidFill>
          <a:ln w="952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7662671" y="2217420"/>
            <a:ext cx="640080" cy="640080"/>
          </a:xfrm>
          <a:prstGeom prst="ellipse">
            <a:avLst/>
          </a:prstGeom>
          <a:solidFill>
            <a:srgbClr val="C06A3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FFFFF"/>
                </a:solidFill>
              </a:rPr>
              <a:t>$</a:t>
            </a:r>
          </a:p>
        </p:txBody>
      </p:sp>
      <p:sp>
        <p:nvSpPr>
          <p:cNvPr id="6" name="TextBox 5"/>
          <p:cNvSpPr txBox="1"/>
          <p:nvPr/>
        </p:nvSpPr>
        <p:spPr>
          <a:xfrm>
            <a:off x="8458199" y="2039112"/>
            <a:ext cx="2926080" cy="996696"/>
          </a:xfrm>
          <a:prstGeom prst="rect">
            <a:avLst/>
          </a:prstGeom>
          <a:noFill/>
        </p:spPr>
        <p:txBody>
          <a:bodyPr wrap="square">
            <a:spAutoFit/>
          </a:bodyPr>
          <a:lstStyle/>
          <a:p>
            <a:r>
              <a:rPr sz="1300" b="1">
                <a:solidFill>
                  <a:srgbClr val="1F3864"/>
                </a:solidFill>
              </a:rPr>
              <a:t>Investment at Stake</a:t>
            </a:r>
          </a:p>
          <a:p>
            <a:r>
              <a:rPr sz="1050">
                <a:solidFill>
                  <a:srgbClr val="404040"/>
                </a:solidFill>
              </a:rPr>
              <a:t>Streaming platforms spend heavily on additional seasons</a:t>
            </a:r>
          </a:p>
        </p:txBody>
      </p:sp>
      <p:sp>
        <p:nvSpPr>
          <p:cNvPr id="7" name="Rounded Rectangle 6"/>
          <p:cNvSpPr/>
          <p:nvPr/>
        </p:nvSpPr>
        <p:spPr>
          <a:xfrm>
            <a:off x="7498079" y="3364992"/>
            <a:ext cx="4023360" cy="1143000"/>
          </a:xfrm>
          <a:prstGeom prst="roundRect">
            <a:avLst/>
          </a:prstGeom>
          <a:solidFill>
            <a:srgbClr val="EEF2FA"/>
          </a:solidFill>
          <a:ln w="952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7662671" y="3616452"/>
            <a:ext cx="640080" cy="640080"/>
          </a:xfrm>
          <a:prstGeom prst="ellipse">
            <a:avLst/>
          </a:prstGeom>
          <a:solidFill>
            <a:srgbClr val="C06A3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FFFFF"/>
                </a:solidFill>
              </a:rPr>
              <a:t>↕</a:t>
            </a:r>
          </a:p>
        </p:txBody>
      </p:sp>
      <p:sp>
        <p:nvSpPr>
          <p:cNvPr id="9" name="TextBox 8"/>
          <p:cNvSpPr txBox="1"/>
          <p:nvPr/>
        </p:nvSpPr>
        <p:spPr>
          <a:xfrm>
            <a:off x="8458199" y="3438144"/>
            <a:ext cx="2926080" cy="996696"/>
          </a:xfrm>
          <a:prstGeom prst="rect">
            <a:avLst/>
          </a:prstGeom>
          <a:noFill/>
        </p:spPr>
        <p:txBody>
          <a:bodyPr wrap="square">
            <a:spAutoFit/>
          </a:bodyPr>
          <a:lstStyle/>
          <a:p>
            <a:r>
              <a:rPr sz="1300" b="1">
                <a:solidFill>
                  <a:srgbClr val="1F3864"/>
                </a:solidFill>
              </a:rPr>
              <a:t>Viewership Can Shift</a:t>
            </a:r>
          </a:p>
          <a:p>
            <a:r>
              <a:rPr sz="1050">
                <a:solidFill>
                  <a:srgbClr val="404040"/>
                </a:solidFill>
              </a:rPr>
              <a:t>Audiences grow or shrink season to season</a:t>
            </a:r>
          </a:p>
        </p:txBody>
      </p:sp>
      <p:sp>
        <p:nvSpPr>
          <p:cNvPr id="10" name="Rounded Rectangle 9"/>
          <p:cNvSpPr/>
          <p:nvPr/>
        </p:nvSpPr>
        <p:spPr>
          <a:xfrm>
            <a:off x="7498079" y="4764024"/>
            <a:ext cx="4023360" cy="1143000"/>
          </a:xfrm>
          <a:prstGeom prst="roundRect">
            <a:avLst/>
          </a:prstGeom>
          <a:solidFill>
            <a:srgbClr val="EEF2FA"/>
          </a:solidFill>
          <a:ln w="952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7662671" y="5015484"/>
            <a:ext cx="640080" cy="640080"/>
          </a:xfrm>
          <a:prstGeom prst="ellipse">
            <a:avLst/>
          </a:prstGeom>
          <a:solidFill>
            <a:srgbClr val="C06A3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FFFFF"/>
                </a:solidFill>
              </a:rPr>
              <a:t>→</a:t>
            </a:r>
          </a:p>
        </p:txBody>
      </p:sp>
      <p:sp>
        <p:nvSpPr>
          <p:cNvPr id="12" name="TextBox 11"/>
          <p:cNvSpPr txBox="1"/>
          <p:nvPr/>
        </p:nvSpPr>
        <p:spPr>
          <a:xfrm>
            <a:off x="8458199" y="4837176"/>
            <a:ext cx="2926080" cy="996696"/>
          </a:xfrm>
          <a:prstGeom prst="rect">
            <a:avLst/>
          </a:prstGeom>
          <a:noFill/>
        </p:spPr>
        <p:txBody>
          <a:bodyPr wrap="square">
            <a:spAutoFit/>
          </a:bodyPr>
          <a:lstStyle/>
          <a:p>
            <a:r>
              <a:rPr sz="1300" b="1">
                <a:solidFill>
                  <a:srgbClr val="1F3864"/>
                </a:solidFill>
              </a:rPr>
              <a:t>Predictive Value</a:t>
            </a:r>
          </a:p>
          <a:p>
            <a:r>
              <a:rPr sz="1050">
                <a:solidFill>
                  <a:srgbClr val="404040"/>
                </a:solidFill>
              </a:rPr>
              <a:t>Direction of change informs renewal decisions</a:t>
            </a:r>
          </a:p>
        </p:txBody>
      </p:sp>
    </p:spTree>
    <p:extLst>
      <p:ext uri="{BB962C8B-B14F-4D97-AF65-F5344CB8AC3E}">
        <p14:creationId xmlns:p14="http://schemas.microsoft.com/office/powerpoint/2010/main" val="14428262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BF24B-7BD1-6346-51A6-653B55CDD748}"/>
              </a:ext>
            </a:extLst>
          </p:cNvPr>
          <p:cNvSpPr>
            <a:spLocks noGrp="1"/>
          </p:cNvSpPr>
          <p:nvPr>
            <p:ph type="title"/>
          </p:nvPr>
        </p:nvSpPr>
        <p:spPr>
          <a:xfrm>
            <a:off x="603504" y="351270"/>
            <a:ext cx="10406515" cy="1239720"/>
          </a:xfrm>
        </p:spPr>
        <p:txBody>
          <a:bodyPr/>
          <a:lstStyle/>
          <a:p>
            <a:r>
              <a:rPr lang="en-US"/>
              <a:t>Project Scope</a:t>
            </a:r>
          </a:p>
        </p:txBody>
      </p:sp>
      <p:sp>
        <p:nvSpPr>
          <p:cNvPr id="3" name="Content Placeholder 2">
            <a:extLst>
              <a:ext uri="{FF2B5EF4-FFF2-40B4-BE49-F238E27FC236}">
                <a16:creationId xmlns:a16="http://schemas.microsoft.com/office/drawing/2014/main" id="{D073E29E-1389-42B2-53C4-C97078FA4176}"/>
              </a:ext>
            </a:extLst>
          </p:cNvPr>
          <p:cNvSpPr>
            <a:spLocks noGrp="1"/>
          </p:cNvSpPr>
          <p:nvPr>
            <p:ph idx="1"/>
          </p:nvPr>
        </p:nvSpPr>
        <p:spPr>
          <a:xfrm>
            <a:off x="0" y="2191385"/>
            <a:ext cx="6035040" cy="0"/>
          </a:xfrm>
        </p:spPr>
        <p:txBody>
          <a:bodyPr vert="horz" wrap="square" lIns="91440" tIns="45720" rIns="91440" bIns="45720" rtlCol="0" anchor="t">
            <a:noAutofit/>
          </a:bodyPr>
          <a:lstStyle/>
          <a:p>
            <a:r>
              <a:rPr sz="1600"/>
              <a:t>Problem Statement:</a:t>
            </a:r>
            <a:endParaRPr lang="en-US" sz="1600"/>
          </a:p>
          <a:p>
            <a:pPr lvl="1"/>
            <a:r>
              <a:rPr sz="1600"/>
              <a:t>Predict whether a TV show's next-season viewership will decrease relative to the preceding season, based on information available from the current and previous seasons</a:t>
            </a:r>
          </a:p>
          <a:p>
            <a:r>
              <a:rPr sz="1600"/>
              <a:t>Focus: the direction of season-to-season viewership change (increase vs. decrease)</a:t>
            </a:r>
          </a:p>
          <a:p>
            <a:r>
              <a:rPr sz="1600"/>
              <a:t>Applies to the Season 1 → Season 2 transition, with the same approach extending to Season 2 → Season 3</a:t>
            </a:r>
          </a:p>
          <a:p>
            <a:r>
              <a:rPr sz="1600" b="1"/>
              <a:t>Confirmed with real data (n=3,418): 72% High Retention vs. 28% Low Retention — validating this as a meaningful, moderately imbalanced classification problem</a:t>
            </a:r>
          </a:p>
        </p:txBody>
      </p:sp>
      <p:graphicFrame>
        <p:nvGraphicFramePr>
          <p:cNvPr id="4" name="Chart 3"/>
          <p:cNvGraphicFramePr>
            <a:graphicFrameLocks noGrp="1"/>
          </p:cNvGraphicFramePr>
          <p:nvPr/>
        </p:nvGraphicFramePr>
        <p:xfrm>
          <a:off x="7040880" y="2468880"/>
          <a:ext cx="4389120" cy="3291840"/>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p:cNvSpPr txBox="1"/>
          <p:nvPr/>
        </p:nvSpPr>
        <p:spPr>
          <a:xfrm>
            <a:off x="7040880" y="5806440"/>
            <a:ext cx="4389120" cy="365760"/>
          </a:xfrm>
          <a:prstGeom prst="rect">
            <a:avLst/>
          </a:prstGeom>
          <a:noFill/>
        </p:spPr>
        <p:txBody>
          <a:bodyPr wrap="none">
            <a:spAutoFit/>
          </a:bodyPr>
          <a:lstStyle/>
          <a:p>
            <a:pPr algn="ctr">
              <a:defRPr sz="1100" i="1"/>
            </a:pPr>
            <a:r>
              <a:t>Class balance in modeling dataset (n = 3,418)</a:t>
            </a:r>
          </a:p>
        </p:txBody>
      </p:sp>
    </p:spTree>
    <p:extLst>
      <p:ext uri="{BB962C8B-B14F-4D97-AF65-F5344CB8AC3E}">
        <p14:creationId xmlns:p14="http://schemas.microsoft.com/office/powerpoint/2010/main" val="17491606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FEF31-6490-9D82-DC48-F803EF0C6E46}"/>
              </a:ext>
            </a:extLst>
          </p:cNvPr>
          <p:cNvSpPr>
            <a:spLocks noGrp="1"/>
          </p:cNvSpPr>
          <p:nvPr>
            <p:ph type="title"/>
          </p:nvPr>
        </p:nvSpPr>
        <p:spPr/>
        <p:txBody>
          <a:bodyPr/>
          <a:lstStyle/>
          <a:p>
            <a:r>
              <a:rPr lang="en-US"/>
              <a:t>Data Sources</a:t>
            </a:r>
          </a:p>
        </p:txBody>
      </p:sp>
      <p:sp>
        <p:nvSpPr>
          <p:cNvPr id="3" name="Content Placeholder 2">
            <a:extLst>
              <a:ext uri="{FF2B5EF4-FFF2-40B4-BE49-F238E27FC236}">
                <a16:creationId xmlns:a16="http://schemas.microsoft.com/office/drawing/2014/main" id="{3AF530EC-DA5E-33F4-476D-FE3D546D221B}"/>
              </a:ext>
            </a:extLst>
          </p:cNvPr>
          <p:cNvSpPr>
            <a:spLocks noGrp="1"/>
          </p:cNvSpPr>
          <p:nvPr>
            <p:ph idx="1"/>
          </p:nvPr>
        </p:nvSpPr>
        <p:spPr/>
        <p:txBody>
          <a:bodyPr wrap="square"/>
          <a:lstStyle/>
          <a:p>
            <a:r>
              <a:rPr sz="1600" dirty="0"/>
              <a:t>Netflix Movie &amp; TV Engagement Reports (2023–2026)</a:t>
            </a:r>
            <a:endParaRPr lang="en-US" dirty="0"/>
          </a:p>
          <a:p>
            <a:pPr lvl="1"/>
            <a:r>
              <a:rPr sz="1400" dirty="0"/>
              <a:t>32,576 entries covering global viewing engagement across four years</a:t>
            </a:r>
          </a:p>
          <a:p>
            <a:pPr lvl="1"/>
            <a:r>
              <a:rPr sz="1400" dirty="0"/>
              <a:t>Includes runtime, type (Movie/TV), hours viewed, views per period, and total views</a:t>
            </a:r>
          </a:p>
          <a:p>
            <a:pPr lvl="1"/>
            <a:r>
              <a:rPr sz="1400" dirty="0"/>
              <a:t>Source: whats-on-netflix.com</a:t>
            </a:r>
            <a:endParaRPr lang="en-US" sz="1400" dirty="0"/>
          </a:p>
          <a:p>
            <a:pPr lvl="1"/>
            <a:r>
              <a:rPr lang="en-US" sz="1400" dirty="0">
                <a:hlinkClick r:id="rId2"/>
              </a:rPr>
              <a:t>Search Netflix's Movie &amp; TV Engagement Reports (2023-2026) - What's on Netflix</a:t>
            </a:r>
            <a:endParaRPr sz="1400" dirty="0"/>
          </a:p>
          <a:p>
            <a:r>
              <a:rPr sz="1600" dirty="0"/>
              <a:t>IMDb Non-Commercial Datasets</a:t>
            </a:r>
          </a:p>
          <a:p>
            <a:pPr lvl="1"/>
            <a:r>
              <a:rPr sz="1400" dirty="0" err="1"/>
              <a:t>title.basics</a:t>
            </a:r>
            <a:r>
              <a:rPr sz="1400" dirty="0"/>
              <a:t> — runtime, genre, start/end year</a:t>
            </a:r>
          </a:p>
          <a:p>
            <a:pPr lvl="1"/>
            <a:r>
              <a:rPr sz="1400" dirty="0" err="1"/>
              <a:t>title.episode</a:t>
            </a:r>
            <a:r>
              <a:rPr sz="1400" dirty="0"/>
              <a:t> — season structure, episodes per season, season gaps</a:t>
            </a:r>
          </a:p>
          <a:p>
            <a:pPr lvl="1"/>
            <a:r>
              <a:rPr sz="1400" dirty="0" err="1"/>
              <a:t>title.ratings</a:t>
            </a:r>
            <a:r>
              <a:rPr sz="1400" dirty="0"/>
              <a:t> — ratings and votes, key for determining viewership direction</a:t>
            </a:r>
          </a:p>
          <a:p>
            <a:pPr lvl="1"/>
            <a:r>
              <a:rPr sz="1400" dirty="0" err="1"/>
              <a:t>title.crew</a:t>
            </a:r>
            <a:r>
              <a:rPr sz="1400" dirty="0"/>
              <a:t> — season-wise directors and writers, enabling director popularity analysis</a:t>
            </a:r>
          </a:p>
          <a:p>
            <a:pPr lvl="1"/>
            <a:r>
              <a:rPr sz="1400" dirty="0" err="1"/>
              <a:t>title.principals</a:t>
            </a:r>
            <a:r>
              <a:rPr sz="1400" dirty="0"/>
              <a:t> — cast and crew roles</a:t>
            </a:r>
          </a:p>
          <a:p>
            <a:pPr lvl="1"/>
            <a:r>
              <a:rPr sz="1400" dirty="0" err="1"/>
              <a:t>title.akas</a:t>
            </a:r>
            <a:r>
              <a:rPr sz="1400" dirty="0"/>
              <a:t> — alternate titles, languages, and regions</a:t>
            </a:r>
            <a:endParaRPr lang="en-US" sz="1400" dirty="0"/>
          </a:p>
          <a:p>
            <a:pPr lvl="1"/>
            <a:r>
              <a:rPr lang="en-US" sz="1400" dirty="0"/>
              <a:t>Source - </a:t>
            </a:r>
            <a:r>
              <a:rPr lang="en-US" sz="1400" dirty="0">
                <a:hlinkClick r:id="rId3"/>
              </a:rPr>
              <a:t>IMDb Data Files Download</a:t>
            </a:r>
            <a:endParaRPr sz="1400" dirty="0"/>
          </a:p>
          <a:p>
            <a:r>
              <a:rPr sz="1600" dirty="0"/>
              <a:t>Both datasets are publicly available for non-commercial use</a:t>
            </a:r>
          </a:p>
        </p:txBody>
      </p:sp>
    </p:spTree>
    <p:extLst>
      <p:ext uri="{BB962C8B-B14F-4D97-AF65-F5344CB8AC3E}">
        <p14:creationId xmlns:p14="http://schemas.microsoft.com/office/powerpoint/2010/main" val="26776453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F7E32-D468-04FB-5B21-2F46564780A0}"/>
              </a:ext>
            </a:extLst>
          </p:cNvPr>
          <p:cNvSpPr>
            <a:spLocks noGrp="1"/>
          </p:cNvSpPr>
          <p:nvPr>
            <p:ph type="title"/>
          </p:nvPr>
        </p:nvSpPr>
        <p:spPr/>
        <p:txBody>
          <a:bodyPr/>
          <a:lstStyle/>
          <a:p>
            <a:r>
              <a:rPr lang="en-US"/>
              <a:t>Data Exploration</a:t>
            </a:r>
          </a:p>
        </p:txBody>
      </p:sp>
      <p:sp>
        <p:nvSpPr>
          <p:cNvPr id="3" name="Content Placeholder 2">
            <a:extLst>
              <a:ext uri="{FF2B5EF4-FFF2-40B4-BE49-F238E27FC236}">
                <a16:creationId xmlns:a16="http://schemas.microsoft.com/office/drawing/2014/main" id="{31454AF4-F0C1-20F3-D3EA-A934CF76588F}"/>
              </a:ext>
            </a:extLst>
          </p:cNvPr>
          <p:cNvSpPr>
            <a:spLocks noGrp="1"/>
          </p:cNvSpPr>
          <p:nvPr>
            <p:ph idx="1"/>
          </p:nvPr>
        </p:nvSpPr>
        <p:spPr/>
        <p:txBody>
          <a:bodyPr wrap="square"/>
          <a:lstStyle/>
          <a:p>
            <a:r>
              <a:rPr sz="2200"/>
              <a:t>Data Quality Strengths:</a:t>
            </a:r>
            <a:endParaRPr lang="en-US"/>
          </a:p>
          <a:p>
            <a:pPr lvl="1"/>
            <a:r>
              <a:rPr sz="2000"/>
              <a:t>Directly measures global Netflix engagement</a:t>
            </a:r>
          </a:p>
          <a:p>
            <a:pPr lvl="1"/>
            <a:r>
              <a:rPr sz="2000"/>
              <a:t>Includes both popular and less-popular titles</a:t>
            </a:r>
          </a:p>
          <a:p>
            <a:pPr lvl="1"/>
            <a:r>
              <a:rPr sz="2000"/>
              <a:t>Covers multiple reporting periods (2023–2026)</a:t>
            </a:r>
          </a:p>
          <a:p>
            <a:pPr lvl="1"/>
            <a:r>
              <a:rPr sz="2000"/>
              <a:t>Contains quantitative variables usable for prediction</a:t>
            </a:r>
          </a:p>
          <a:p>
            <a:pPr lvl="1"/>
            <a:r>
              <a:rPr sz="2000"/>
              <a:t>Aggregated title-level data — no personally identifiable viewer information</a:t>
            </a:r>
          </a:p>
        </p:txBody>
      </p:sp>
    </p:spTree>
    <p:extLst>
      <p:ext uri="{BB962C8B-B14F-4D97-AF65-F5344CB8AC3E}">
        <p14:creationId xmlns:p14="http://schemas.microsoft.com/office/powerpoint/2010/main" val="14291248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96D954-5A52-A311-05E7-47F789199C9D}"/>
              </a:ext>
            </a:extLst>
          </p:cNvPr>
          <p:cNvSpPr>
            <a:spLocks noGrp="1"/>
          </p:cNvSpPr>
          <p:nvPr>
            <p:ph type="title"/>
          </p:nvPr>
        </p:nvSpPr>
        <p:spPr>
          <a:xfrm>
            <a:off x="630936" y="640080"/>
            <a:ext cx="4818888" cy="1481328"/>
          </a:xfrm>
        </p:spPr>
        <p:txBody>
          <a:bodyPr anchor="b">
            <a:normAutofit/>
          </a:bodyPr>
          <a:lstStyle/>
          <a:p>
            <a:r>
              <a:rPr lang="en-US" sz="5000"/>
              <a:t>Exploratory Data Analysis</a:t>
            </a:r>
          </a:p>
        </p:txBody>
      </p:sp>
      <p:sp>
        <p:nvSpPr>
          <p:cNvPr id="3" name="Content Placeholder 2">
            <a:extLst>
              <a:ext uri="{FF2B5EF4-FFF2-40B4-BE49-F238E27FC236}">
                <a16:creationId xmlns:a16="http://schemas.microsoft.com/office/drawing/2014/main" id="{2D0A989A-D1A9-3336-2696-FF561087B116}"/>
              </a:ext>
            </a:extLst>
          </p:cNvPr>
          <p:cNvSpPr>
            <a:spLocks noGrp="1"/>
          </p:cNvSpPr>
          <p:nvPr>
            <p:ph idx="1"/>
          </p:nvPr>
        </p:nvSpPr>
        <p:spPr>
          <a:xfrm>
            <a:off x="630936" y="2660904"/>
            <a:ext cx="4818888" cy="3547872"/>
          </a:xfrm>
        </p:spPr>
        <p:txBody>
          <a:bodyPr anchor="t">
            <a:normAutofit/>
          </a:bodyPr>
          <a:lstStyle/>
          <a:p>
            <a:r>
              <a:rPr lang="en-US" sz="2200"/>
              <a:t>Missing Data Analysis</a:t>
            </a:r>
          </a:p>
          <a:p>
            <a:pPr lvl="1"/>
            <a:r>
              <a:rPr lang="en-US" sz="2200"/>
              <a:t>While we were able to merge the two (Netflix and IMDB) dataset , some key feature for rows were missing. Here is a list of Top 10 missing features.</a:t>
            </a:r>
          </a:p>
          <a:p>
            <a:pPr marL="457200" lvl="1" indent="0">
              <a:buNone/>
            </a:pPr>
            <a:r>
              <a:rPr lang="en-US" sz="2200"/>
              <a:t>  </a:t>
            </a:r>
          </a:p>
        </p:txBody>
      </p:sp>
      <p:graphicFrame>
        <p:nvGraphicFramePr>
          <p:cNvPr id="6" name="Table 5">
            <a:extLst>
              <a:ext uri="{FF2B5EF4-FFF2-40B4-BE49-F238E27FC236}">
                <a16:creationId xmlns:a16="http://schemas.microsoft.com/office/drawing/2014/main" id="{E8B957A7-AD6E-234C-DB5E-C46FFD2C9DB6}"/>
              </a:ext>
            </a:extLst>
          </p:cNvPr>
          <p:cNvGraphicFramePr>
            <a:graphicFrameLocks noGrp="1"/>
          </p:cNvGraphicFramePr>
          <p:nvPr>
            <p:extLst>
              <p:ext uri="{D42A27DB-BD31-4B8C-83A1-F6EECF244321}">
                <p14:modId xmlns:p14="http://schemas.microsoft.com/office/powerpoint/2010/main" val="1036602984"/>
              </p:ext>
            </p:extLst>
          </p:nvPr>
        </p:nvGraphicFramePr>
        <p:xfrm>
          <a:off x="6099048" y="2073135"/>
          <a:ext cx="5458970" cy="2711735"/>
        </p:xfrm>
        <a:graphic>
          <a:graphicData uri="http://schemas.openxmlformats.org/drawingml/2006/table">
            <a:tbl>
              <a:tblPr firstRow="1" bandRow="1">
                <a:solidFill>
                  <a:srgbClr val="F7F7F7"/>
                </a:solidFill>
                <a:tableStyleId>{5C22544A-7EE6-4342-B048-85BDC9FD1C3A}</a:tableStyleId>
              </a:tblPr>
              <a:tblGrid>
                <a:gridCol w="259559">
                  <a:extLst>
                    <a:ext uri="{9D8B030D-6E8A-4147-A177-3AD203B41FA5}">
                      <a16:colId xmlns:a16="http://schemas.microsoft.com/office/drawing/2014/main" val="2169525670"/>
                    </a:ext>
                  </a:extLst>
                </a:gridCol>
                <a:gridCol w="1695217">
                  <a:extLst>
                    <a:ext uri="{9D8B030D-6E8A-4147-A177-3AD203B41FA5}">
                      <a16:colId xmlns:a16="http://schemas.microsoft.com/office/drawing/2014/main" val="194460815"/>
                    </a:ext>
                  </a:extLst>
                </a:gridCol>
                <a:gridCol w="1059222">
                  <a:extLst>
                    <a:ext uri="{9D8B030D-6E8A-4147-A177-3AD203B41FA5}">
                      <a16:colId xmlns:a16="http://schemas.microsoft.com/office/drawing/2014/main" val="3912046693"/>
                    </a:ext>
                  </a:extLst>
                </a:gridCol>
                <a:gridCol w="1333800">
                  <a:extLst>
                    <a:ext uri="{9D8B030D-6E8A-4147-A177-3AD203B41FA5}">
                      <a16:colId xmlns:a16="http://schemas.microsoft.com/office/drawing/2014/main" val="1085016168"/>
                    </a:ext>
                  </a:extLst>
                </a:gridCol>
                <a:gridCol w="1111172">
                  <a:extLst>
                    <a:ext uri="{9D8B030D-6E8A-4147-A177-3AD203B41FA5}">
                      <a16:colId xmlns:a16="http://schemas.microsoft.com/office/drawing/2014/main" val="315780204"/>
                    </a:ext>
                  </a:extLst>
                </a:gridCol>
              </a:tblGrid>
              <a:tr h="410365">
                <a:tc>
                  <a:txBody>
                    <a:bodyPr/>
                    <a:lstStyle/>
                    <a:p>
                      <a:pPr algn="ctr" fontAlgn="ctr">
                        <a:buNone/>
                      </a:pPr>
                      <a:r>
                        <a:rPr lang="en-US" sz="700" b="1" u="none" strike="noStrike" cap="all" spc="60">
                          <a:solidFill>
                            <a:schemeClr val="tx1"/>
                          </a:solidFill>
                          <a:effectLst/>
                        </a:rPr>
                        <a:t> </a:t>
                      </a:r>
                      <a:endParaRPr lang="en-US" sz="700" b="1" i="0" u="none" strike="noStrike" cap="all" spc="60">
                        <a:solidFill>
                          <a:schemeClr val="tx1"/>
                        </a:solidFill>
                        <a:effectLst/>
                        <a:latin typeface="Aptos Narrow" panose="020B0004020202020204" pitchFamily="34" charset="0"/>
                      </a:endParaRPr>
                    </a:p>
                  </a:txBody>
                  <a:tcPr marL="83182" marR="83182" marT="83182" marB="83182" anchor="ctr">
                    <a:lnL w="12700" cmpd="sng">
                      <a:noFill/>
                    </a:lnL>
                    <a:lnR w="12700" cmpd="sng">
                      <a:noFill/>
                    </a:lnR>
                    <a:lnT w="12700" cmpd="sng">
                      <a:noFill/>
                    </a:lnT>
                    <a:lnB w="38100" cmpd="sng">
                      <a:noFill/>
                    </a:lnB>
                    <a:noFill/>
                  </a:tcPr>
                </a:tc>
                <a:tc>
                  <a:txBody>
                    <a:bodyPr/>
                    <a:lstStyle/>
                    <a:p>
                      <a:pPr algn="ctr" fontAlgn="ctr">
                        <a:buNone/>
                      </a:pPr>
                      <a:r>
                        <a:rPr lang="en-US" sz="700" b="1" u="none" strike="noStrike" cap="all" spc="60">
                          <a:solidFill>
                            <a:schemeClr val="tx1"/>
                          </a:solidFill>
                          <a:effectLst/>
                        </a:rPr>
                        <a:t>feature</a:t>
                      </a:r>
                      <a:endParaRPr lang="en-US" sz="700" b="1" i="0" u="none" strike="noStrike" cap="all" spc="60">
                        <a:solidFill>
                          <a:schemeClr val="tx1"/>
                        </a:solidFill>
                        <a:effectLst/>
                        <a:latin typeface="Aptos Narrow" panose="020B0004020202020204" pitchFamily="34" charset="0"/>
                      </a:endParaRPr>
                    </a:p>
                  </a:txBody>
                  <a:tcPr marL="83182" marR="83182" marT="83182" marB="83182" anchor="ctr">
                    <a:lnL w="12700" cmpd="sng">
                      <a:noFill/>
                    </a:lnL>
                    <a:lnR w="12700" cmpd="sng">
                      <a:noFill/>
                    </a:lnR>
                    <a:lnT w="12700" cmpd="sng">
                      <a:noFill/>
                    </a:lnT>
                    <a:lnB w="38100" cmpd="sng">
                      <a:noFill/>
                    </a:lnB>
                    <a:noFill/>
                  </a:tcPr>
                </a:tc>
                <a:tc>
                  <a:txBody>
                    <a:bodyPr/>
                    <a:lstStyle/>
                    <a:p>
                      <a:pPr algn="ctr" fontAlgn="ctr">
                        <a:buNone/>
                      </a:pPr>
                      <a:r>
                        <a:rPr lang="en-US" sz="700" b="1" u="none" strike="noStrike" cap="all" spc="60">
                          <a:solidFill>
                            <a:schemeClr val="tx1"/>
                          </a:solidFill>
                          <a:effectLst/>
                        </a:rPr>
                        <a:t>missing_count</a:t>
                      </a:r>
                      <a:endParaRPr lang="en-US" sz="700" b="1" i="0" u="none" strike="noStrike" cap="all" spc="60">
                        <a:solidFill>
                          <a:schemeClr val="tx1"/>
                        </a:solidFill>
                        <a:effectLst/>
                        <a:latin typeface="Aptos Narrow" panose="020B0004020202020204" pitchFamily="34" charset="0"/>
                      </a:endParaRPr>
                    </a:p>
                  </a:txBody>
                  <a:tcPr marL="83182" marR="83182" marT="83182" marB="83182" anchor="ctr">
                    <a:lnL w="12700" cmpd="sng">
                      <a:noFill/>
                    </a:lnL>
                    <a:lnR w="12700" cmpd="sng">
                      <a:noFill/>
                    </a:lnR>
                    <a:lnT w="12700" cmpd="sng">
                      <a:noFill/>
                    </a:lnT>
                    <a:lnB w="38100" cmpd="sng">
                      <a:noFill/>
                    </a:lnB>
                    <a:noFill/>
                  </a:tcPr>
                </a:tc>
                <a:tc>
                  <a:txBody>
                    <a:bodyPr/>
                    <a:lstStyle/>
                    <a:p>
                      <a:pPr algn="ctr" fontAlgn="ctr">
                        <a:buNone/>
                      </a:pPr>
                      <a:r>
                        <a:rPr lang="en-US" sz="700" b="1" u="none" strike="noStrike" cap="all" spc="60">
                          <a:solidFill>
                            <a:schemeClr val="tx1"/>
                          </a:solidFill>
                          <a:effectLst/>
                        </a:rPr>
                        <a:t>non_missing_count</a:t>
                      </a:r>
                      <a:endParaRPr lang="en-US" sz="700" b="1" i="0" u="none" strike="noStrike" cap="all" spc="60">
                        <a:solidFill>
                          <a:schemeClr val="tx1"/>
                        </a:solidFill>
                        <a:effectLst/>
                        <a:latin typeface="Aptos Narrow" panose="020B0004020202020204" pitchFamily="34" charset="0"/>
                      </a:endParaRPr>
                    </a:p>
                  </a:txBody>
                  <a:tcPr marL="83182" marR="83182" marT="83182" marB="83182" anchor="ctr">
                    <a:lnL w="12700" cmpd="sng">
                      <a:noFill/>
                    </a:lnL>
                    <a:lnR w="12700" cmpd="sng">
                      <a:noFill/>
                    </a:lnR>
                    <a:lnT w="12700" cmpd="sng">
                      <a:noFill/>
                    </a:lnT>
                    <a:lnB w="38100" cmpd="sng">
                      <a:noFill/>
                    </a:lnB>
                    <a:noFill/>
                  </a:tcPr>
                </a:tc>
                <a:tc>
                  <a:txBody>
                    <a:bodyPr/>
                    <a:lstStyle/>
                    <a:p>
                      <a:pPr algn="ctr" fontAlgn="ctr">
                        <a:buNone/>
                      </a:pPr>
                      <a:r>
                        <a:rPr lang="en-US" sz="700" b="1" u="none" strike="noStrike" cap="all" spc="60">
                          <a:solidFill>
                            <a:schemeClr val="tx1"/>
                          </a:solidFill>
                          <a:effectLst/>
                        </a:rPr>
                        <a:t>missing_percent</a:t>
                      </a:r>
                      <a:endParaRPr lang="en-US" sz="700" b="1" i="0" u="none" strike="noStrike" cap="all" spc="60">
                        <a:solidFill>
                          <a:schemeClr val="tx1"/>
                        </a:solidFill>
                        <a:effectLst/>
                        <a:latin typeface="Aptos Narrow" panose="020B0004020202020204" pitchFamily="34" charset="0"/>
                      </a:endParaRPr>
                    </a:p>
                  </a:txBody>
                  <a:tcPr marL="83182" marR="83182" marT="83182" marB="83182" anchor="ctr">
                    <a:lnL w="12700" cmpd="sng">
                      <a:noFill/>
                    </a:lnL>
                    <a:lnR w="12700" cmpd="sng">
                      <a:noFill/>
                    </a:lnR>
                    <a:lnT w="12700" cmpd="sng">
                      <a:noFill/>
                    </a:lnT>
                    <a:lnB w="38100" cmpd="sng">
                      <a:noFill/>
                    </a:lnB>
                    <a:noFill/>
                  </a:tcPr>
                </a:tc>
                <a:extLst>
                  <a:ext uri="{0D108BD9-81ED-4DB2-BD59-A6C34878D82A}">
                    <a16:rowId xmlns:a16="http://schemas.microsoft.com/office/drawing/2014/main" val="580008066"/>
                  </a:ext>
                </a:extLst>
              </a:tr>
              <a:tr h="230137">
                <a:tc>
                  <a:txBody>
                    <a:bodyPr/>
                    <a:lstStyle/>
                    <a:p>
                      <a:pPr algn="ctr" fontAlgn="ctr">
                        <a:buNone/>
                      </a:pPr>
                      <a:r>
                        <a:rPr lang="en-US" sz="1000" u="none" strike="noStrike" cap="none" spc="0">
                          <a:solidFill>
                            <a:schemeClr val="tx1"/>
                          </a:solidFill>
                          <a:effectLst/>
                        </a:rPr>
                        <a:t>1</a:t>
                      </a:r>
                      <a:endParaRPr lang="en-US" sz="1000" b="1" i="0" u="none" strike="noStrike" cap="none" spc="0">
                        <a:solidFill>
                          <a:schemeClr val="tx1"/>
                        </a:solidFill>
                        <a:effectLst/>
                        <a:latin typeface="Aptos Narrow" panose="020B0004020202020204" pitchFamily="34" charset="0"/>
                      </a:endParaRPr>
                    </a:p>
                  </a:txBody>
                  <a:tcPr marL="4621" marR="4621" marT="4621" marB="55455" anchor="ctr">
                    <a:lnL w="12700" cmpd="sng">
                      <a:noFill/>
                      <a:prstDash val="solid"/>
                    </a:lnL>
                    <a:lnR w="12700" cmpd="sng">
                      <a:noFill/>
                      <a:prstDash val="solid"/>
                    </a:lnR>
                    <a:lnT w="38100" cmpd="sng">
                      <a:noFill/>
                    </a:lnT>
                    <a:lnB w="12700" cmpd="sng">
                      <a:noFill/>
                      <a:prstDash val="solid"/>
                    </a:lnB>
                    <a:solidFill>
                      <a:srgbClr val="F7F7F7"/>
                    </a:solidFill>
                  </a:tcPr>
                </a:tc>
                <a:tc>
                  <a:txBody>
                    <a:bodyPr/>
                    <a:lstStyle/>
                    <a:p>
                      <a:pPr algn="l" fontAlgn="ctr">
                        <a:buNone/>
                      </a:pPr>
                      <a:r>
                        <a:rPr lang="en-US" sz="1000" u="none" strike="noStrike" cap="none" spc="0">
                          <a:solidFill>
                            <a:schemeClr val="tx1"/>
                          </a:solidFill>
                          <a:effectLst/>
                        </a:rPr>
                        <a:t>imdb_age_at_netflix_year</a:t>
                      </a:r>
                      <a:endParaRPr lang="en-US" sz="1000" b="0" i="0" u="none" strike="noStrike" cap="none" spc="0">
                        <a:solidFill>
                          <a:schemeClr val="tx1"/>
                        </a:solidFill>
                        <a:effectLst/>
                        <a:latin typeface="Aptos Narrow" panose="020B0004020202020204" pitchFamily="34" charset="0"/>
                      </a:endParaRPr>
                    </a:p>
                  </a:txBody>
                  <a:tcPr marL="4621" marR="4621" marT="4621" marB="55455" anchor="ctr">
                    <a:lnL w="12700" cmpd="sng">
                      <a:noFill/>
                      <a:prstDash val="solid"/>
                    </a:lnL>
                    <a:lnR w="12700" cmpd="sng">
                      <a:noFill/>
                      <a:prstDash val="solid"/>
                    </a:lnR>
                    <a:lnT w="38100" cmpd="sng">
                      <a:noFill/>
                    </a:lnT>
                    <a:lnB w="12700" cmpd="sng">
                      <a:noFill/>
                      <a:prstDash val="solid"/>
                    </a:lnB>
                    <a:solidFill>
                      <a:srgbClr val="F7F7F7"/>
                    </a:solidFill>
                  </a:tcPr>
                </a:tc>
                <a:tc>
                  <a:txBody>
                    <a:bodyPr/>
                    <a:lstStyle/>
                    <a:p>
                      <a:pPr algn="r" fontAlgn="ctr">
                        <a:buNone/>
                      </a:pPr>
                      <a:r>
                        <a:rPr lang="en-US" sz="1000" u="none" strike="noStrike" cap="none" spc="0">
                          <a:solidFill>
                            <a:schemeClr val="tx1"/>
                          </a:solidFill>
                          <a:effectLst/>
                        </a:rPr>
                        <a:t>3112</a:t>
                      </a:r>
                      <a:endParaRPr lang="en-US" sz="1000" b="0" i="0" u="none" strike="noStrike" cap="none" spc="0">
                        <a:solidFill>
                          <a:schemeClr val="tx1"/>
                        </a:solidFill>
                        <a:effectLst/>
                        <a:latin typeface="Aptos Narrow" panose="020B0004020202020204" pitchFamily="34" charset="0"/>
                      </a:endParaRPr>
                    </a:p>
                  </a:txBody>
                  <a:tcPr marL="4621" marR="4621" marT="4621" marB="55455" anchor="ctr">
                    <a:lnL w="12700" cmpd="sng">
                      <a:noFill/>
                      <a:prstDash val="solid"/>
                    </a:lnL>
                    <a:lnR w="12700" cmpd="sng">
                      <a:noFill/>
                      <a:prstDash val="solid"/>
                    </a:lnR>
                    <a:lnT w="38100" cmpd="sng">
                      <a:noFill/>
                    </a:lnT>
                    <a:lnB w="12700" cmpd="sng">
                      <a:noFill/>
                      <a:prstDash val="solid"/>
                    </a:lnB>
                    <a:solidFill>
                      <a:srgbClr val="F7F7F7"/>
                    </a:solidFill>
                  </a:tcPr>
                </a:tc>
                <a:tc>
                  <a:txBody>
                    <a:bodyPr/>
                    <a:lstStyle/>
                    <a:p>
                      <a:pPr algn="r" fontAlgn="ctr">
                        <a:buNone/>
                      </a:pPr>
                      <a:r>
                        <a:rPr lang="en-US" sz="1000" u="none" strike="noStrike" cap="none" spc="0">
                          <a:solidFill>
                            <a:schemeClr val="tx1"/>
                          </a:solidFill>
                          <a:effectLst/>
                        </a:rPr>
                        <a:t>306</a:t>
                      </a:r>
                      <a:endParaRPr lang="en-US" sz="1000" b="0" i="0" u="none" strike="noStrike" cap="none" spc="0">
                        <a:solidFill>
                          <a:schemeClr val="tx1"/>
                        </a:solidFill>
                        <a:effectLst/>
                        <a:latin typeface="Aptos Narrow" panose="020B0004020202020204" pitchFamily="34" charset="0"/>
                      </a:endParaRPr>
                    </a:p>
                  </a:txBody>
                  <a:tcPr marL="4621" marR="4621" marT="4621" marB="55455" anchor="ctr">
                    <a:lnL w="12700" cmpd="sng">
                      <a:noFill/>
                      <a:prstDash val="solid"/>
                    </a:lnL>
                    <a:lnR w="12700" cmpd="sng">
                      <a:noFill/>
                      <a:prstDash val="solid"/>
                    </a:lnR>
                    <a:lnT w="38100" cmpd="sng">
                      <a:noFill/>
                    </a:lnT>
                    <a:lnB w="12700" cmpd="sng">
                      <a:noFill/>
                      <a:prstDash val="solid"/>
                    </a:lnB>
                    <a:solidFill>
                      <a:srgbClr val="F7F7F7"/>
                    </a:solidFill>
                  </a:tcPr>
                </a:tc>
                <a:tc>
                  <a:txBody>
                    <a:bodyPr/>
                    <a:lstStyle/>
                    <a:p>
                      <a:pPr algn="r" fontAlgn="ctr">
                        <a:buNone/>
                      </a:pPr>
                      <a:r>
                        <a:rPr lang="en-US" sz="1000" u="none" strike="noStrike" cap="none" spc="0">
                          <a:solidFill>
                            <a:schemeClr val="tx1"/>
                          </a:solidFill>
                          <a:effectLst/>
                        </a:rPr>
                        <a:t>91.0474</a:t>
                      </a:r>
                      <a:endParaRPr lang="en-US" sz="1000" b="0" i="0" u="none" strike="noStrike" cap="none" spc="0">
                        <a:solidFill>
                          <a:schemeClr val="tx1"/>
                        </a:solidFill>
                        <a:effectLst/>
                        <a:latin typeface="Aptos Narrow" panose="020B0004020202020204" pitchFamily="34" charset="0"/>
                      </a:endParaRPr>
                    </a:p>
                  </a:txBody>
                  <a:tcPr marL="4621" marR="4621" marT="4621" marB="55455" anchor="ctr">
                    <a:lnL w="12700" cmpd="sng">
                      <a:noFill/>
                      <a:prstDash val="solid"/>
                    </a:lnL>
                    <a:lnR w="12700" cmpd="sng">
                      <a:noFill/>
                      <a:prstDash val="solid"/>
                    </a:lnR>
                    <a:lnT w="38100" cmpd="sng">
                      <a:noFill/>
                    </a:lnT>
                    <a:lnB w="12700" cmpd="sng">
                      <a:noFill/>
                      <a:prstDash val="solid"/>
                    </a:lnB>
                    <a:solidFill>
                      <a:srgbClr val="F7F7F7"/>
                    </a:solidFill>
                  </a:tcPr>
                </a:tc>
                <a:extLst>
                  <a:ext uri="{0D108BD9-81ED-4DB2-BD59-A6C34878D82A}">
                    <a16:rowId xmlns:a16="http://schemas.microsoft.com/office/drawing/2014/main" val="1463347252"/>
                  </a:ext>
                </a:extLst>
              </a:tr>
              <a:tr h="230137">
                <a:tc>
                  <a:txBody>
                    <a:bodyPr/>
                    <a:lstStyle/>
                    <a:p>
                      <a:pPr algn="ctr" fontAlgn="ctr">
                        <a:buNone/>
                      </a:pPr>
                      <a:r>
                        <a:rPr lang="en-US" sz="1000" u="none" strike="noStrike" cap="none" spc="0">
                          <a:solidFill>
                            <a:schemeClr val="tx1"/>
                          </a:solidFill>
                          <a:effectLst/>
                        </a:rPr>
                        <a:t>2</a:t>
                      </a:r>
                      <a:endParaRPr lang="en-US" sz="1000" b="1" i="0" u="none" strike="noStrike" cap="none" spc="0">
                        <a:solidFill>
                          <a:schemeClr val="tx1"/>
                        </a:solidFill>
                        <a:effectLst/>
                        <a:latin typeface="Aptos Narrow" panose="020B0004020202020204" pitchFamily="34" charset="0"/>
                      </a:endParaRPr>
                    </a:p>
                  </a:txBody>
                  <a:tcPr marL="4621" marR="4621" marT="4621" marB="55455"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algn="l" fontAlgn="ctr">
                        <a:buNone/>
                      </a:pPr>
                      <a:r>
                        <a:rPr lang="en-US" sz="1000" u="none" strike="noStrike" cap="none" spc="0">
                          <a:solidFill>
                            <a:schemeClr val="tx1"/>
                          </a:solidFill>
                          <a:effectLst/>
                        </a:rPr>
                        <a:t>netflix_imdb_year_gap</a:t>
                      </a:r>
                      <a:endParaRPr lang="en-US" sz="1000" b="0" i="0" u="none" strike="noStrike" cap="none" spc="0">
                        <a:solidFill>
                          <a:schemeClr val="tx1"/>
                        </a:solidFill>
                        <a:effectLst/>
                        <a:latin typeface="Aptos Narrow" panose="020B0004020202020204" pitchFamily="34" charset="0"/>
                      </a:endParaRPr>
                    </a:p>
                  </a:txBody>
                  <a:tcPr marL="4621" marR="4621" marT="4621" marB="55455"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algn="r" fontAlgn="ctr">
                        <a:buNone/>
                      </a:pPr>
                      <a:r>
                        <a:rPr lang="en-US" sz="1000" u="none" strike="noStrike" cap="none" spc="0">
                          <a:solidFill>
                            <a:schemeClr val="tx1"/>
                          </a:solidFill>
                          <a:effectLst/>
                        </a:rPr>
                        <a:t>3112</a:t>
                      </a:r>
                      <a:endParaRPr lang="en-US" sz="1000" b="0" i="0" u="none" strike="noStrike" cap="none" spc="0">
                        <a:solidFill>
                          <a:schemeClr val="tx1"/>
                        </a:solidFill>
                        <a:effectLst/>
                        <a:latin typeface="Aptos Narrow" panose="020B0004020202020204" pitchFamily="34" charset="0"/>
                      </a:endParaRPr>
                    </a:p>
                  </a:txBody>
                  <a:tcPr marL="4621" marR="4621" marT="4621" marB="55455"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algn="r" fontAlgn="ctr">
                        <a:buNone/>
                      </a:pPr>
                      <a:r>
                        <a:rPr lang="en-US" sz="1000" u="none" strike="noStrike" cap="none" spc="0">
                          <a:solidFill>
                            <a:schemeClr val="tx1"/>
                          </a:solidFill>
                          <a:effectLst/>
                        </a:rPr>
                        <a:t>306</a:t>
                      </a:r>
                      <a:endParaRPr lang="en-US" sz="1000" b="0" i="0" u="none" strike="noStrike" cap="none" spc="0">
                        <a:solidFill>
                          <a:schemeClr val="tx1"/>
                        </a:solidFill>
                        <a:effectLst/>
                        <a:latin typeface="Aptos Narrow" panose="020B0004020202020204" pitchFamily="34" charset="0"/>
                      </a:endParaRPr>
                    </a:p>
                  </a:txBody>
                  <a:tcPr marL="4621" marR="4621" marT="4621" marB="55455"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algn="r" fontAlgn="ctr">
                        <a:buNone/>
                      </a:pPr>
                      <a:r>
                        <a:rPr lang="en-US" sz="1000" u="none" strike="noStrike" cap="none" spc="0">
                          <a:solidFill>
                            <a:schemeClr val="tx1"/>
                          </a:solidFill>
                          <a:effectLst/>
                        </a:rPr>
                        <a:t>91.0474</a:t>
                      </a:r>
                      <a:endParaRPr lang="en-US" sz="1000" b="0" i="0" u="none" strike="noStrike" cap="none" spc="0">
                        <a:solidFill>
                          <a:schemeClr val="tx1"/>
                        </a:solidFill>
                        <a:effectLst/>
                        <a:latin typeface="Aptos Narrow" panose="020B0004020202020204" pitchFamily="34" charset="0"/>
                      </a:endParaRPr>
                    </a:p>
                  </a:txBody>
                  <a:tcPr marL="4621" marR="4621" marT="4621" marB="55455"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extLst>
                  <a:ext uri="{0D108BD9-81ED-4DB2-BD59-A6C34878D82A}">
                    <a16:rowId xmlns:a16="http://schemas.microsoft.com/office/drawing/2014/main" val="40386550"/>
                  </a:ext>
                </a:extLst>
              </a:tr>
              <a:tr h="230137">
                <a:tc>
                  <a:txBody>
                    <a:bodyPr/>
                    <a:lstStyle/>
                    <a:p>
                      <a:pPr algn="ctr" fontAlgn="ctr">
                        <a:buNone/>
                      </a:pPr>
                      <a:r>
                        <a:rPr lang="en-US" sz="1000" u="none" strike="noStrike" cap="none" spc="0">
                          <a:solidFill>
                            <a:schemeClr val="tx1"/>
                          </a:solidFill>
                          <a:effectLst/>
                        </a:rPr>
                        <a:t>3</a:t>
                      </a:r>
                      <a:endParaRPr lang="en-US" sz="1000" b="1" i="0" u="none" strike="noStrike" cap="none" spc="0">
                        <a:solidFill>
                          <a:schemeClr val="tx1"/>
                        </a:solidFill>
                        <a:effectLst/>
                        <a:latin typeface="Aptos Narrow" panose="020B0004020202020204" pitchFamily="34" charset="0"/>
                      </a:endParaRPr>
                    </a:p>
                  </a:txBody>
                  <a:tcPr marL="4621" marR="4621" marT="4621" marB="55455"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lgn="l" fontAlgn="ctr">
                        <a:buNone/>
                      </a:pPr>
                      <a:r>
                        <a:rPr lang="en-US" sz="1000" u="none" strike="noStrike" cap="none" spc="0">
                          <a:solidFill>
                            <a:schemeClr val="tx1"/>
                          </a:solidFill>
                          <a:effectLst/>
                        </a:rPr>
                        <a:t>netflix_reference_year</a:t>
                      </a:r>
                      <a:endParaRPr lang="en-US" sz="1000" b="0" i="0" u="none" strike="noStrike" cap="none" spc="0">
                        <a:solidFill>
                          <a:schemeClr val="tx1"/>
                        </a:solidFill>
                        <a:effectLst/>
                        <a:latin typeface="Aptos Narrow" panose="020B0004020202020204" pitchFamily="34" charset="0"/>
                      </a:endParaRPr>
                    </a:p>
                  </a:txBody>
                  <a:tcPr marL="4621" marR="4621" marT="4621" marB="55455"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lgn="r" fontAlgn="ctr">
                        <a:buNone/>
                      </a:pPr>
                      <a:r>
                        <a:rPr lang="en-US" sz="1000" u="none" strike="noStrike" cap="none" spc="0">
                          <a:solidFill>
                            <a:schemeClr val="tx1"/>
                          </a:solidFill>
                          <a:effectLst/>
                        </a:rPr>
                        <a:t>3112</a:t>
                      </a:r>
                      <a:endParaRPr lang="en-US" sz="1000" b="0" i="0" u="none" strike="noStrike" cap="none" spc="0">
                        <a:solidFill>
                          <a:schemeClr val="tx1"/>
                        </a:solidFill>
                        <a:effectLst/>
                        <a:latin typeface="Aptos Narrow" panose="020B0004020202020204" pitchFamily="34" charset="0"/>
                      </a:endParaRPr>
                    </a:p>
                  </a:txBody>
                  <a:tcPr marL="4621" marR="4621" marT="4621" marB="55455"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lgn="r" fontAlgn="ctr">
                        <a:buNone/>
                      </a:pPr>
                      <a:r>
                        <a:rPr lang="en-US" sz="1000" u="none" strike="noStrike" cap="none" spc="0">
                          <a:solidFill>
                            <a:schemeClr val="tx1"/>
                          </a:solidFill>
                          <a:effectLst/>
                        </a:rPr>
                        <a:t>306</a:t>
                      </a:r>
                      <a:endParaRPr lang="en-US" sz="1000" b="0" i="0" u="none" strike="noStrike" cap="none" spc="0">
                        <a:solidFill>
                          <a:schemeClr val="tx1"/>
                        </a:solidFill>
                        <a:effectLst/>
                        <a:latin typeface="Aptos Narrow" panose="020B0004020202020204" pitchFamily="34" charset="0"/>
                      </a:endParaRPr>
                    </a:p>
                  </a:txBody>
                  <a:tcPr marL="4621" marR="4621" marT="4621" marB="55455"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lgn="r" fontAlgn="ctr">
                        <a:buNone/>
                      </a:pPr>
                      <a:r>
                        <a:rPr lang="en-US" sz="1000" u="none" strike="noStrike" cap="none" spc="0">
                          <a:solidFill>
                            <a:schemeClr val="tx1"/>
                          </a:solidFill>
                          <a:effectLst/>
                        </a:rPr>
                        <a:t>91.0474</a:t>
                      </a:r>
                      <a:endParaRPr lang="en-US" sz="1000" b="0" i="0" u="none" strike="noStrike" cap="none" spc="0">
                        <a:solidFill>
                          <a:schemeClr val="tx1"/>
                        </a:solidFill>
                        <a:effectLst/>
                        <a:latin typeface="Aptos Narrow" panose="020B0004020202020204" pitchFamily="34" charset="0"/>
                      </a:endParaRPr>
                    </a:p>
                  </a:txBody>
                  <a:tcPr marL="4621" marR="4621" marT="4621" marB="55455" anchor="ctr">
                    <a:lnL w="12700" cmpd="sng">
                      <a:noFill/>
                      <a:prstDash val="solid"/>
                    </a:lnL>
                    <a:lnR w="12700" cmpd="sng">
                      <a:noFill/>
                      <a:prstDash val="solid"/>
                    </a:lnR>
                    <a:lnT w="12700" cmpd="sng">
                      <a:noFill/>
                      <a:prstDash val="solid"/>
                    </a:lnT>
                    <a:lnB w="12700" cmpd="sng">
                      <a:noFill/>
                      <a:prstDash val="solid"/>
                    </a:lnB>
                    <a:solidFill>
                      <a:srgbClr val="F7F7F7"/>
                    </a:solidFill>
                  </a:tcPr>
                </a:tc>
                <a:extLst>
                  <a:ext uri="{0D108BD9-81ED-4DB2-BD59-A6C34878D82A}">
                    <a16:rowId xmlns:a16="http://schemas.microsoft.com/office/drawing/2014/main" val="1441482318"/>
                  </a:ext>
                </a:extLst>
              </a:tr>
              <a:tr h="230137">
                <a:tc>
                  <a:txBody>
                    <a:bodyPr/>
                    <a:lstStyle/>
                    <a:p>
                      <a:pPr algn="ctr" fontAlgn="ctr">
                        <a:buNone/>
                      </a:pPr>
                      <a:r>
                        <a:rPr lang="en-US" sz="1000" u="none" strike="noStrike" cap="none" spc="0">
                          <a:solidFill>
                            <a:schemeClr val="tx1"/>
                          </a:solidFill>
                          <a:effectLst/>
                        </a:rPr>
                        <a:t>4</a:t>
                      </a:r>
                      <a:endParaRPr lang="en-US" sz="1000" b="1" i="0" u="none" strike="noStrike" cap="none" spc="0">
                        <a:solidFill>
                          <a:schemeClr val="tx1"/>
                        </a:solidFill>
                        <a:effectLst/>
                        <a:latin typeface="Aptos Narrow" panose="020B0004020202020204" pitchFamily="34" charset="0"/>
                      </a:endParaRPr>
                    </a:p>
                  </a:txBody>
                  <a:tcPr marL="4621" marR="4621" marT="4621" marB="55455"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algn="l" fontAlgn="ctr">
                        <a:buNone/>
                      </a:pPr>
                      <a:r>
                        <a:rPr lang="en-US" sz="1000" u="none" strike="noStrike" cap="none" spc="0">
                          <a:solidFill>
                            <a:schemeClr val="tx1"/>
                          </a:solidFill>
                          <a:effectLst/>
                        </a:rPr>
                        <a:t>prev_view_change_absolute</a:t>
                      </a:r>
                      <a:endParaRPr lang="en-US" sz="1000" b="0" i="0" u="none" strike="noStrike" cap="none" spc="0">
                        <a:solidFill>
                          <a:schemeClr val="tx1"/>
                        </a:solidFill>
                        <a:effectLst/>
                        <a:latin typeface="Aptos Narrow" panose="020B0004020202020204" pitchFamily="34" charset="0"/>
                      </a:endParaRPr>
                    </a:p>
                  </a:txBody>
                  <a:tcPr marL="4621" marR="4621" marT="4621" marB="55455"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algn="r" fontAlgn="ctr">
                        <a:buNone/>
                      </a:pPr>
                      <a:r>
                        <a:rPr lang="en-US" sz="1000" u="none" strike="noStrike" cap="none" spc="0">
                          <a:solidFill>
                            <a:schemeClr val="tx1"/>
                          </a:solidFill>
                          <a:effectLst/>
                        </a:rPr>
                        <a:t>2126</a:t>
                      </a:r>
                      <a:endParaRPr lang="en-US" sz="1000" b="0" i="0" u="none" strike="noStrike" cap="none" spc="0">
                        <a:solidFill>
                          <a:schemeClr val="tx1"/>
                        </a:solidFill>
                        <a:effectLst/>
                        <a:latin typeface="Aptos Narrow" panose="020B0004020202020204" pitchFamily="34" charset="0"/>
                      </a:endParaRPr>
                    </a:p>
                  </a:txBody>
                  <a:tcPr marL="4621" marR="4621" marT="4621" marB="55455"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algn="r" fontAlgn="ctr">
                        <a:buNone/>
                      </a:pPr>
                      <a:r>
                        <a:rPr lang="en-US" sz="1000" u="none" strike="noStrike" cap="none" spc="0">
                          <a:solidFill>
                            <a:schemeClr val="tx1"/>
                          </a:solidFill>
                          <a:effectLst/>
                        </a:rPr>
                        <a:t>1292</a:t>
                      </a:r>
                      <a:endParaRPr lang="en-US" sz="1000" b="0" i="0" u="none" strike="noStrike" cap="none" spc="0">
                        <a:solidFill>
                          <a:schemeClr val="tx1"/>
                        </a:solidFill>
                        <a:effectLst/>
                        <a:latin typeface="Aptos Narrow" panose="020B0004020202020204" pitchFamily="34" charset="0"/>
                      </a:endParaRPr>
                    </a:p>
                  </a:txBody>
                  <a:tcPr marL="4621" marR="4621" marT="4621" marB="55455"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algn="r" fontAlgn="ctr">
                        <a:buNone/>
                      </a:pPr>
                      <a:r>
                        <a:rPr lang="en-US" sz="1000" u="none" strike="noStrike" cap="none" spc="0">
                          <a:solidFill>
                            <a:schemeClr val="tx1"/>
                          </a:solidFill>
                          <a:effectLst/>
                        </a:rPr>
                        <a:t>62.2001</a:t>
                      </a:r>
                      <a:endParaRPr lang="en-US" sz="1000" b="0" i="0" u="none" strike="noStrike" cap="none" spc="0">
                        <a:solidFill>
                          <a:schemeClr val="tx1"/>
                        </a:solidFill>
                        <a:effectLst/>
                        <a:latin typeface="Aptos Narrow" panose="020B0004020202020204" pitchFamily="34" charset="0"/>
                      </a:endParaRPr>
                    </a:p>
                  </a:txBody>
                  <a:tcPr marL="4621" marR="4621" marT="4621" marB="55455"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extLst>
                  <a:ext uri="{0D108BD9-81ED-4DB2-BD59-A6C34878D82A}">
                    <a16:rowId xmlns:a16="http://schemas.microsoft.com/office/drawing/2014/main" val="2179983987"/>
                  </a:ext>
                </a:extLst>
              </a:tr>
              <a:tr h="230137">
                <a:tc>
                  <a:txBody>
                    <a:bodyPr/>
                    <a:lstStyle/>
                    <a:p>
                      <a:pPr algn="ctr" fontAlgn="ctr">
                        <a:buNone/>
                      </a:pPr>
                      <a:r>
                        <a:rPr lang="en-US" sz="1000" u="none" strike="noStrike" cap="none" spc="0">
                          <a:solidFill>
                            <a:schemeClr val="tx1"/>
                          </a:solidFill>
                          <a:effectLst/>
                        </a:rPr>
                        <a:t>5</a:t>
                      </a:r>
                      <a:endParaRPr lang="en-US" sz="1000" b="1" i="0" u="none" strike="noStrike" cap="none" spc="0">
                        <a:solidFill>
                          <a:schemeClr val="tx1"/>
                        </a:solidFill>
                        <a:effectLst/>
                        <a:latin typeface="Aptos Narrow" panose="020B0004020202020204" pitchFamily="34" charset="0"/>
                      </a:endParaRPr>
                    </a:p>
                  </a:txBody>
                  <a:tcPr marL="4621" marR="4621" marT="4621" marB="55455"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lgn="l" fontAlgn="ctr">
                        <a:buNone/>
                      </a:pPr>
                      <a:r>
                        <a:rPr lang="en-US" sz="1000" u="none" strike="noStrike" cap="none" spc="0">
                          <a:solidFill>
                            <a:schemeClr val="tx1"/>
                          </a:solidFill>
                          <a:effectLst/>
                        </a:rPr>
                        <a:t>prev_view_change_percent</a:t>
                      </a:r>
                      <a:endParaRPr lang="en-US" sz="1000" b="0" i="0" u="none" strike="noStrike" cap="none" spc="0">
                        <a:solidFill>
                          <a:schemeClr val="tx1"/>
                        </a:solidFill>
                        <a:effectLst/>
                        <a:latin typeface="Aptos Narrow" panose="020B0004020202020204" pitchFamily="34" charset="0"/>
                      </a:endParaRPr>
                    </a:p>
                  </a:txBody>
                  <a:tcPr marL="4621" marR="4621" marT="4621" marB="55455"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lgn="r" fontAlgn="ctr">
                        <a:buNone/>
                      </a:pPr>
                      <a:r>
                        <a:rPr lang="en-US" sz="1000" u="none" strike="noStrike" cap="none" spc="0">
                          <a:solidFill>
                            <a:schemeClr val="tx1"/>
                          </a:solidFill>
                          <a:effectLst/>
                        </a:rPr>
                        <a:t>2126</a:t>
                      </a:r>
                      <a:endParaRPr lang="en-US" sz="1000" b="0" i="0" u="none" strike="noStrike" cap="none" spc="0">
                        <a:solidFill>
                          <a:schemeClr val="tx1"/>
                        </a:solidFill>
                        <a:effectLst/>
                        <a:latin typeface="Aptos Narrow" panose="020B0004020202020204" pitchFamily="34" charset="0"/>
                      </a:endParaRPr>
                    </a:p>
                  </a:txBody>
                  <a:tcPr marL="4621" marR="4621" marT="4621" marB="55455"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lgn="r" fontAlgn="ctr">
                        <a:buNone/>
                      </a:pPr>
                      <a:r>
                        <a:rPr lang="en-US" sz="1000" u="none" strike="noStrike" cap="none" spc="0">
                          <a:solidFill>
                            <a:schemeClr val="tx1"/>
                          </a:solidFill>
                          <a:effectLst/>
                        </a:rPr>
                        <a:t>1292</a:t>
                      </a:r>
                      <a:endParaRPr lang="en-US" sz="1000" b="0" i="0" u="none" strike="noStrike" cap="none" spc="0">
                        <a:solidFill>
                          <a:schemeClr val="tx1"/>
                        </a:solidFill>
                        <a:effectLst/>
                        <a:latin typeface="Aptos Narrow" panose="020B0004020202020204" pitchFamily="34" charset="0"/>
                      </a:endParaRPr>
                    </a:p>
                  </a:txBody>
                  <a:tcPr marL="4621" marR="4621" marT="4621" marB="55455"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lgn="r" fontAlgn="ctr">
                        <a:buNone/>
                      </a:pPr>
                      <a:r>
                        <a:rPr lang="en-US" sz="1000" u="none" strike="noStrike" cap="none" spc="0">
                          <a:solidFill>
                            <a:schemeClr val="tx1"/>
                          </a:solidFill>
                          <a:effectLst/>
                        </a:rPr>
                        <a:t>62.2001</a:t>
                      </a:r>
                      <a:endParaRPr lang="en-US" sz="1000" b="0" i="0" u="none" strike="noStrike" cap="none" spc="0">
                        <a:solidFill>
                          <a:schemeClr val="tx1"/>
                        </a:solidFill>
                        <a:effectLst/>
                        <a:latin typeface="Aptos Narrow" panose="020B0004020202020204" pitchFamily="34" charset="0"/>
                      </a:endParaRPr>
                    </a:p>
                  </a:txBody>
                  <a:tcPr marL="4621" marR="4621" marT="4621" marB="55455" anchor="ctr">
                    <a:lnL w="12700" cmpd="sng">
                      <a:noFill/>
                      <a:prstDash val="solid"/>
                    </a:lnL>
                    <a:lnR w="12700" cmpd="sng">
                      <a:noFill/>
                      <a:prstDash val="solid"/>
                    </a:lnR>
                    <a:lnT w="12700" cmpd="sng">
                      <a:noFill/>
                      <a:prstDash val="solid"/>
                    </a:lnT>
                    <a:lnB w="12700" cmpd="sng">
                      <a:noFill/>
                      <a:prstDash val="solid"/>
                    </a:lnB>
                    <a:solidFill>
                      <a:srgbClr val="F7F7F7"/>
                    </a:solidFill>
                  </a:tcPr>
                </a:tc>
                <a:extLst>
                  <a:ext uri="{0D108BD9-81ED-4DB2-BD59-A6C34878D82A}">
                    <a16:rowId xmlns:a16="http://schemas.microsoft.com/office/drawing/2014/main" val="3244239631"/>
                  </a:ext>
                </a:extLst>
              </a:tr>
              <a:tr h="230137">
                <a:tc>
                  <a:txBody>
                    <a:bodyPr/>
                    <a:lstStyle/>
                    <a:p>
                      <a:pPr algn="ctr" fontAlgn="ctr">
                        <a:buNone/>
                      </a:pPr>
                      <a:r>
                        <a:rPr lang="en-US" sz="1000" u="none" strike="noStrike" cap="none" spc="0">
                          <a:solidFill>
                            <a:schemeClr val="tx1"/>
                          </a:solidFill>
                          <a:effectLst/>
                        </a:rPr>
                        <a:t>6</a:t>
                      </a:r>
                      <a:endParaRPr lang="en-US" sz="1000" b="1" i="0" u="none" strike="noStrike" cap="none" spc="0">
                        <a:solidFill>
                          <a:schemeClr val="tx1"/>
                        </a:solidFill>
                        <a:effectLst/>
                        <a:latin typeface="Aptos Narrow" panose="020B0004020202020204" pitchFamily="34" charset="0"/>
                      </a:endParaRPr>
                    </a:p>
                  </a:txBody>
                  <a:tcPr marL="4621" marR="4621" marT="4621" marB="55455"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algn="l" fontAlgn="ctr">
                        <a:buNone/>
                      </a:pPr>
                      <a:r>
                        <a:rPr lang="en-US" sz="1000" u="none" strike="noStrike" cap="none" spc="0">
                          <a:solidFill>
                            <a:schemeClr val="tx1"/>
                          </a:solidFill>
                          <a:effectLst/>
                        </a:rPr>
                        <a:t>prev_hours_change_absolute</a:t>
                      </a:r>
                      <a:endParaRPr lang="en-US" sz="1000" b="0" i="0" u="none" strike="noStrike" cap="none" spc="0">
                        <a:solidFill>
                          <a:schemeClr val="tx1"/>
                        </a:solidFill>
                        <a:effectLst/>
                        <a:latin typeface="Aptos Narrow" panose="020B0004020202020204" pitchFamily="34" charset="0"/>
                      </a:endParaRPr>
                    </a:p>
                  </a:txBody>
                  <a:tcPr marL="4621" marR="4621" marT="4621" marB="55455"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algn="r" fontAlgn="ctr">
                        <a:buNone/>
                      </a:pPr>
                      <a:r>
                        <a:rPr lang="en-US" sz="1000" u="none" strike="noStrike" cap="none" spc="0">
                          <a:solidFill>
                            <a:schemeClr val="tx1"/>
                          </a:solidFill>
                          <a:effectLst/>
                        </a:rPr>
                        <a:t>2102</a:t>
                      </a:r>
                      <a:endParaRPr lang="en-US" sz="1000" b="0" i="0" u="none" strike="noStrike" cap="none" spc="0">
                        <a:solidFill>
                          <a:schemeClr val="tx1"/>
                        </a:solidFill>
                        <a:effectLst/>
                        <a:latin typeface="Aptos Narrow" panose="020B0004020202020204" pitchFamily="34" charset="0"/>
                      </a:endParaRPr>
                    </a:p>
                  </a:txBody>
                  <a:tcPr marL="4621" marR="4621" marT="4621" marB="55455"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algn="r" fontAlgn="ctr">
                        <a:buNone/>
                      </a:pPr>
                      <a:r>
                        <a:rPr lang="en-US" sz="1000" u="none" strike="noStrike" cap="none" spc="0">
                          <a:solidFill>
                            <a:schemeClr val="tx1"/>
                          </a:solidFill>
                          <a:effectLst/>
                        </a:rPr>
                        <a:t>1316</a:t>
                      </a:r>
                      <a:endParaRPr lang="en-US" sz="1000" b="0" i="0" u="none" strike="noStrike" cap="none" spc="0">
                        <a:solidFill>
                          <a:schemeClr val="tx1"/>
                        </a:solidFill>
                        <a:effectLst/>
                        <a:latin typeface="Aptos Narrow" panose="020B0004020202020204" pitchFamily="34" charset="0"/>
                      </a:endParaRPr>
                    </a:p>
                  </a:txBody>
                  <a:tcPr marL="4621" marR="4621" marT="4621" marB="55455"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algn="r" fontAlgn="ctr">
                        <a:buNone/>
                      </a:pPr>
                      <a:r>
                        <a:rPr lang="en-US" sz="1000" u="none" strike="noStrike" cap="none" spc="0">
                          <a:solidFill>
                            <a:schemeClr val="tx1"/>
                          </a:solidFill>
                          <a:effectLst/>
                        </a:rPr>
                        <a:t>61.498</a:t>
                      </a:r>
                      <a:endParaRPr lang="en-US" sz="1000" b="0" i="0" u="none" strike="noStrike" cap="none" spc="0">
                        <a:solidFill>
                          <a:schemeClr val="tx1"/>
                        </a:solidFill>
                        <a:effectLst/>
                        <a:latin typeface="Aptos Narrow" panose="020B0004020202020204" pitchFamily="34" charset="0"/>
                      </a:endParaRPr>
                    </a:p>
                  </a:txBody>
                  <a:tcPr marL="4621" marR="4621" marT="4621" marB="55455"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extLst>
                  <a:ext uri="{0D108BD9-81ED-4DB2-BD59-A6C34878D82A}">
                    <a16:rowId xmlns:a16="http://schemas.microsoft.com/office/drawing/2014/main" val="2910792111"/>
                  </a:ext>
                </a:extLst>
              </a:tr>
              <a:tr h="230137">
                <a:tc>
                  <a:txBody>
                    <a:bodyPr/>
                    <a:lstStyle/>
                    <a:p>
                      <a:pPr algn="ctr" fontAlgn="ctr">
                        <a:buNone/>
                      </a:pPr>
                      <a:r>
                        <a:rPr lang="en-US" sz="1000" u="none" strike="noStrike" cap="none" spc="0">
                          <a:solidFill>
                            <a:schemeClr val="tx1"/>
                          </a:solidFill>
                          <a:effectLst/>
                        </a:rPr>
                        <a:t>7</a:t>
                      </a:r>
                      <a:endParaRPr lang="en-US" sz="1000" b="1" i="0" u="none" strike="noStrike" cap="none" spc="0">
                        <a:solidFill>
                          <a:schemeClr val="tx1"/>
                        </a:solidFill>
                        <a:effectLst/>
                        <a:latin typeface="Aptos Narrow" panose="020B0004020202020204" pitchFamily="34" charset="0"/>
                      </a:endParaRPr>
                    </a:p>
                  </a:txBody>
                  <a:tcPr marL="4621" marR="4621" marT="4621" marB="55455"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lgn="l" fontAlgn="ctr">
                        <a:buNone/>
                      </a:pPr>
                      <a:r>
                        <a:rPr lang="en-US" sz="1000" u="none" strike="noStrike" cap="none" spc="0">
                          <a:solidFill>
                            <a:schemeClr val="tx1"/>
                          </a:solidFill>
                          <a:effectLst/>
                        </a:rPr>
                        <a:t>prev_hours_change_percent</a:t>
                      </a:r>
                      <a:endParaRPr lang="en-US" sz="1000" b="0" i="0" u="none" strike="noStrike" cap="none" spc="0">
                        <a:solidFill>
                          <a:schemeClr val="tx1"/>
                        </a:solidFill>
                        <a:effectLst/>
                        <a:latin typeface="Aptos Narrow" panose="020B0004020202020204" pitchFamily="34" charset="0"/>
                      </a:endParaRPr>
                    </a:p>
                  </a:txBody>
                  <a:tcPr marL="4621" marR="4621" marT="4621" marB="55455"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lgn="r" fontAlgn="ctr">
                        <a:buNone/>
                      </a:pPr>
                      <a:r>
                        <a:rPr lang="en-US" sz="1000" u="none" strike="noStrike" cap="none" spc="0">
                          <a:solidFill>
                            <a:schemeClr val="tx1"/>
                          </a:solidFill>
                          <a:effectLst/>
                        </a:rPr>
                        <a:t>2102</a:t>
                      </a:r>
                      <a:endParaRPr lang="en-US" sz="1000" b="0" i="0" u="none" strike="noStrike" cap="none" spc="0">
                        <a:solidFill>
                          <a:schemeClr val="tx1"/>
                        </a:solidFill>
                        <a:effectLst/>
                        <a:latin typeface="Aptos Narrow" panose="020B0004020202020204" pitchFamily="34" charset="0"/>
                      </a:endParaRPr>
                    </a:p>
                  </a:txBody>
                  <a:tcPr marL="4621" marR="4621" marT="4621" marB="55455"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lgn="r" fontAlgn="ctr">
                        <a:buNone/>
                      </a:pPr>
                      <a:r>
                        <a:rPr lang="en-US" sz="1000" u="none" strike="noStrike" cap="none" spc="0">
                          <a:solidFill>
                            <a:schemeClr val="tx1"/>
                          </a:solidFill>
                          <a:effectLst/>
                        </a:rPr>
                        <a:t>1316</a:t>
                      </a:r>
                      <a:endParaRPr lang="en-US" sz="1000" b="0" i="0" u="none" strike="noStrike" cap="none" spc="0">
                        <a:solidFill>
                          <a:schemeClr val="tx1"/>
                        </a:solidFill>
                        <a:effectLst/>
                        <a:latin typeface="Aptos Narrow" panose="020B0004020202020204" pitchFamily="34" charset="0"/>
                      </a:endParaRPr>
                    </a:p>
                  </a:txBody>
                  <a:tcPr marL="4621" marR="4621" marT="4621" marB="55455"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lgn="r" fontAlgn="ctr">
                        <a:buNone/>
                      </a:pPr>
                      <a:r>
                        <a:rPr lang="en-US" sz="1000" u="none" strike="noStrike" cap="none" spc="0">
                          <a:solidFill>
                            <a:schemeClr val="tx1"/>
                          </a:solidFill>
                          <a:effectLst/>
                        </a:rPr>
                        <a:t>61.498</a:t>
                      </a:r>
                      <a:endParaRPr lang="en-US" sz="1000" b="0" i="0" u="none" strike="noStrike" cap="none" spc="0">
                        <a:solidFill>
                          <a:schemeClr val="tx1"/>
                        </a:solidFill>
                        <a:effectLst/>
                        <a:latin typeface="Aptos Narrow" panose="020B0004020202020204" pitchFamily="34" charset="0"/>
                      </a:endParaRPr>
                    </a:p>
                  </a:txBody>
                  <a:tcPr marL="4621" marR="4621" marT="4621" marB="55455" anchor="ctr">
                    <a:lnL w="12700" cmpd="sng">
                      <a:noFill/>
                      <a:prstDash val="solid"/>
                    </a:lnL>
                    <a:lnR w="12700" cmpd="sng">
                      <a:noFill/>
                      <a:prstDash val="solid"/>
                    </a:lnR>
                    <a:lnT w="12700" cmpd="sng">
                      <a:noFill/>
                      <a:prstDash val="solid"/>
                    </a:lnT>
                    <a:lnB w="12700" cmpd="sng">
                      <a:noFill/>
                      <a:prstDash val="solid"/>
                    </a:lnB>
                    <a:solidFill>
                      <a:srgbClr val="F7F7F7"/>
                    </a:solidFill>
                  </a:tcPr>
                </a:tc>
                <a:extLst>
                  <a:ext uri="{0D108BD9-81ED-4DB2-BD59-A6C34878D82A}">
                    <a16:rowId xmlns:a16="http://schemas.microsoft.com/office/drawing/2014/main" val="111427542"/>
                  </a:ext>
                </a:extLst>
              </a:tr>
              <a:tr h="230137">
                <a:tc>
                  <a:txBody>
                    <a:bodyPr/>
                    <a:lstStyle/>
                    <a:p>
                      <a:pPr algn="ctr" fontAlgn="ctr">
                        <a:buNone/>
                      </a:pPr>
                      <a:r>
                        <a:rPr lang="en-US" sz="1000" u="none" strike="noStrike" cap="none" spc="0">
                          <a:solidFill>
                            <a:schemeClr val="tx1"/>
                          </a:solidFill>
                          <a:effectLst/>
                        </a:rPr>
                        <a:t>8</a:t>
                      </a:r>
                      <a:endParaRPr lang="en-US" sz="1000" b="1" i="0" u="none" strike="noStrike" cap="none" spc="0">
                        <a:solidFill>
                          <a:schemeClr val="tx1"/>
                        </a:solidFill>
                        <a:effectLst/>
                        <a:latin typeface="Aptos Narrow" panose="020B0004020202020204" pitchFamily="34" charset="0"/>
                      </a:endParaRPr>
                    </a:p>
                  </a:txBody>
                  <a:tcPr marL="4621" marR="4621" marT="4621" marB="55455"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algn="l" fontAlgn="ctr">
                        <a:buNone/>
                      </a:pPr>
                      <a:r>
                        <a:rPr lang="en-US" sz="1000" u="none" strike="noStrike" cap="none" spc="0">
                          <a:solidFill>
                            <a:schemeClr val="tx1"/>
                          </a:solidFill>
                          <a:effectLst/>
                        </a:rPr>
                        <a:t>prev_season_views</a:t>
                      </a:r>
                      <a:endParaRPr lang="en-US" sz="1000" b="0" i="0" u="none" strike="noStrike" cap="none" spc="0">
                        <a:solidFill>
                          <a:schemeClr val="tx1"/>
                        </a:solidFill>
                        <a:effectLst/>
                        <a:latin typeface="Aptos Narrow" panose="020B0004020202020204" pitchFamily="34" charset="0"/>
                      </a:endParaRPr>
                    </a:p>
                  </a:txBody>
                  <a:tcPr marL="4621" marR="4621" marT="4621" marB="55455"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algn="r" fontAlgn="ctr">
                        <a:buNone/>
                      </a:pPr>
                      <a:r>
                        <a:rPr lang="en-US" sz="1000" u="none" strike="noStrike" cap="none" spc="0">
                          <a:solidFill>
                            <a:schemeClr val="tx1"/>
                          </a:solidFill>
                          <a:effectLst/>
                        </a:rPr>
                        <a:t>1390</a:t>
                      </a:r>
                      <a:endParaRPr lang="en-US" sz="1000" b="0" i="0" u="none" strike="noStrike" cap="none" spc="0">
                        <a:solidFill>
                          <a:schemeClr val="tx1"/>
                        </a:solidFill>
                        <a:effectLst/>
                        <a:latin typeface="Aptos Narrow" panose="020B0004020202020204" pitchFamily="34" charset="0"/>
                      </a:endParaRPr>
                    </a:p>
                  </a:txBody>
                  <a:tcPr marL="4621" marR="4621" marT="4621" marB="55455"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algn="r" fontAlgn="ctr">
                        <a:buNone/>
                      </a:pPr>
                      <a:r>
                        <a:rPr lang="en-US" sz="1000" u="none" strike="noStrike" cap="none" spc="0">
                          <a:solidFill>
                            <a:schemeClr val="tx1"/>
                          </a:solidFill>
                          <a:effectLst/>
                        </a:rPr>
                        <a:t>2028</a:t>
                      </a:r>
                      <a:endParaRPr lang="en-US" sz="1000" b="0" i="0" u="none" strike="noStrike" cap="none" spc="0">
                        <a:solidFill>
                          <a:schemeClr val="tx1"/>
                        </a:solidFill>
                        <a:effectLst/>
                        <a:latin typeface="Aptos Narrow" panose="020B0004020202020204" pitchFamily="34" charset="0"/>
                      </a:endParaRPr>
                    </a:p>
                  </a:txBody>
                  <a:tcPr marL="4621" marR="4621" marT="4621" marB="55455"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algn="r" fontAlgn="ctr">
                        <a:buNone/>
                      </a:pPr>
                      <a:r>
                        <a:rPr lang="en-US" sz="1000" u="none" strike="noStrike" cap="none" spc="0">
                          <a:solidFill>
                            <a:schemeClr val="tx1"/>
                          </a:solidFill>
                          <a:effectLst/>
                        </a:rPr>
                        <a:t>40.6671</a:t>
                      </a:r>
                      <a:endParaRPr lang="en-US" sz="1000" b="0" i="0" u="none" strike="noStrike" cap="none" spc="0">
                        <a:solidFill>
                          <a:schemeClr val="tx1"/>
                        </a:solidFill>
                        <a:effectLst/>
                        <a:latin typeface="Aptos Narrow" panose="020B0004020202020204" pitchFamily="34" charset="0"/>
                      </a:endParaRPr>
                    </a:p>
                  </a:txBody>
                  <a:tcPr marL="4621" marR="4621" marT="4621" marB="55455"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extLst>
                  <a:ext uri="{0D108BD9-81ED-4DB2-BD59-A6C34878D82A}">
                    <a16:rowId xmlns:a16="http://schemas.microsoft.com/office/drawing/2014/main" val="3397749534"/>
                  </a:ext>
                </a:extLst>
              </a:tr>
              <a:tr h="230137">
                <a:tc>
                  <a:txBody>
                    <a:bodyPr/>
                    <a:lstStyle/>
                    <a:p>
                      <a:pPr algn="ctr" fontAlgn="ctr">
                        <a:buNone/>
                      </a:pPr>
                      <a:r>
                        <a:rPr lang="en-US" sz="1000" u="none" strike="noStrike" cap="none" spc="0">
                          <a:solidFill>
                            <a:schemeClr val="tx1"/>
                          </a:solidFill>
                          <a:effectLst/>
                        </a:rPr>
                        <a:t>9</a:t>
                      </a:r>
                      <a:endParaRPr lang="en-US" sz="1000" b="1" i="0" u="none" strike="noStrike" cap="none" spc="0">
                        <a:solidFill>
                          <a:schemeClr val="tx1"/>
                        </a:solidFill>
                        <a:effectLst/>
                        <a:latin typeface="Aptos Narrow" panose="020B0004020202020204" pitchFamily="34" charset="0"/>
                      </a:endParaRPr>
                    </a:p>
                  </a:txBody>
                  <a:tcPr marL="4621" marR="4621" marT="4621" marB="55455"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lgn="l" fontAlgn="ctr">
                        <a:buNone/>
                      </a:pPr>
                      <a:r>
                        <a:rPr lang="en-US" sz="1000" u="none" strike="noStrike" cap="none" spc="0">
                          <a:solidFill>
                            <a:schemeClr val="tx1"/>
                          </a:solidFill>
                          <a:effectLst/>
                        </a:rPr>
                        <a:t>prev_season_rating</a:t>
                      </a:r>
                      <a:endParaRPr lang="en-US" sz="1000" b="0" i="0" u="none" strike="noStrike" cap="none" spc="0">
                        <a:solidFill>
                          <a:schemeClr val="tx1"/>
                        </a:solidFill>
                        <a:effectLst/>
                        <a:latin typeface="Aptos Narrow" panose="020B0004020202020204" pitchFamily="34" charset="0"/>
                      </a:endParaRPr>
                    </a:p>
                  </a:txBody>
                  <a:tcPr marL="4621" marR="4621" marT="4621" marB="55455"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lgn="r" fontAlgn="ctr">
                        <a:buNone/>
                      </a:pPr>
                      <a:r>
                        <a:rPr lang="en-US" sz="1000" u="none" strike="noStrike" cap="none" spc="0">
                          <a:solidFill>
                            <a:schemeClr val="tx1"/>
                          </a:solidFill>
                          <a:effectLst/>
                        </a:rPr>
                        <a:t>1370</a:t>
                      </a:r>
                      <a:endParaRPr lang="en-US" sz="1000" b="0" i="0" u="none" strike="noStrike" cap="none" spc="0">
                        <a:solidFill>
                          <a:schemeClr val="tx1"/>
                        </a:solidFill>
                        <a:effectLst/>
                        <a:latin typeface="Aptos Narrow" panose="020B0004020202020204" pitchFamily="34" charset="0"/>
                      </a:endParaRPr>
                    </a:p>
                  </a:txBody>
                  <a:tcPr marL="4621" marR="4621" marT="4621" marB="55455"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lgn="r" fontAlgn="ctr">
                        <a:buNone/>
                      </a:pPr>
                      <a:r>
                        <a:rPr lang="en-US" sz="1000" u="none" strike="noStrike" cap="none" spc="0">
                          <a:solidFill>
                            <a:schemeClr val="tx1"/>
                          </a:solidFill>
                          <a:effectLst/>
                        </a:rPr>
                        <a:t>2048</a:t>
                      </a:r>
                      <a:endParaRPr lang="en-US" sz="1000" b="0" i="0" u="none" strike="noStrike" cap="none" spc="0">
                        <a:solidFill>
                          <a:schemeClr val="tx1"/>
                        </a:solidFill>
                        <a:effectLst/>
                        <a:latin typeface="Aptos Narrow" panose="020B0004020202020204" pitchFamily="34" charset="0"/>
                      </a:endParaRPr>
                    </a:p>
                  </a:txBody>
                  <a:tcPr marL="4621" marR="4621" marT="4621" marB="55455"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lgn="r" fontAlgn="ctr">
                        <a:buNone/>
                      </a:pPr>
                      <a:r>
                        <a:rPr lang="en-US" sz="1000" u="none" strike="noStrike" cap="none" spc="0">
                          <a:solidFill>
                            <a:schemeClr val="tx1"/>
                          </a:solidFill>
                          <a:effectLst/>
                        </a:rPr>
                        <a:t>40.0819</a:t>
                      </a:r>
                      <a:endParaRPr lang="en-US" sz="1000" b="0" i="0" u="none" strike="noStrike" cap="none" spc="0">
                        <a:solidFill>
                          <a:schemeClr val="tx1"/>
                        </a:solidFill>
                        <a:effectLst/>
                        <a:latin typeface="Aptos Narrow" panose="020B0004020202020204" pitchFamily="34" charset="0"/>
                      </a:endParaRPr>
                    </a:p>
                  </a:txBody>
                  <a:tcPr marL="4621" marR="4621" marT="4621" marB="55455" anchor="ctr">
                    <a:lnL w="12700" cmpd="sng">
                      <a:noFill/>
                      <a:prstDash val="solid"/>
                    </a:lnL>
                    <a:lnR w="12700" cmpd="sng">
                      <a:noFill/>
                      <a:prstDash val="solid"/>
                    </a:lnR>
                    <a:lnT w="12700" cmpd="sng">
                      <a:noFill/>
                      <a:prstDash val="solid"/>
                    </a:lnT>
                    <a:lnB w="12700" cmpd="sng">
                      <a:noFill/>
                      <a:prstDash val="solid"/>
                    </a:lnB>
                    <a:solidFill>
                      <a:srgbClr val="F7F7F7"/>
                    </a:solidFill>
                  </a:tcPr>
                </a:tc>
                <a:extLst>
                  <a:ext uri="{0D108BD9-81ED-4DB2-BD59-A6C34878D82A}">
                    <a16:rowId xmlns:a16="http://schemas.microsoft.com/office/drawing/2014/main" val="1334152089"/>
                  </a:ext>
                </a:extLst>
              </a:tr>
              <a:tr h="230137">
                <a:tc>
                  <a:txBody>
                    <a:bodyPr/>
                    <a:lstStyle/>
                    <a:p>
                      <a:pPr algn="ctr" fontAlgn="ctr">
                        <a:buNone/>
                      </a:pPr>
                      <a:r>
                        <a:rPr lang="en-US" sz="1000" u="none" strike="noStrike" cap="none" spc="0">
                          <a:solidFill>
                            <a:schemeClr val="tx1"/>
                          </a:solidFill>
                          <a:effectLst/>
                        </a:rPr>
                        <a:t>10</a:t>
                      </a:r>
                      <a:endParaRPr lang="en-US" sz="1000" b="1" i="0" u="none" strike="noStrike" cap="none" spc="0">
                        <a:solidFill>
                          <a:schemeClr val="tx1"/>
                        </a:solidFill>
                        <a:effectLst/>
                        <a:latin typeface="Aptos Narrow" panose="020B0004020202020204" pitchFamily="34" charset="0"/>
                      </a:endParaRPr>
                    </a:p>
                  </a:txBody>
                  <a:tcPr marL="4621" marR="4621" marT="4621" marB="55455"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algn="l" fontAlgn="ctr">
                        <a:buNone/>
                      </a:pPr>
                      <a:r>
                        <a:rPr lang="en-US" sz="1000" u="none" strike="noStrike" cap="none" spc="0">
                          <a:solidFill>
                            <a:schemeClr val="tx1"/>
                          </a:solidFill>
                          <a:effectLst/>
                        </a:rPr>
                        <a:t>prev_season_hours</a:t>
                      </a:r>
                      <a:endParaRPr lang="en-US" sz="1000" b="0" i="0" u="none" strike="noStrike" cap="none" spc="0">
                        <a:solidFill>
                          <a:schemeClr val="tx1"/>
                        </a:solidFill>
                        <a:effectLst/>
                        <a:latin typeface="Aptos Narrow" panose="020B0004020202020204" pitchFamily="34" charset="0"/>
                      </a:endParaRPr>
                    </a:p>
                  </a:txBody>
                  <a:tcPr marL="4621" marR="4621" marT="4621" marB="55455"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algn="r" fontAlgn="ctr">
                        <a:buNone/>
                      </a:pPr>
                      <a:r>
                        <a:rPr lang="en-US" sz="1000" u="none" strike="noStrike" cap="none" spc="0">
                          <a:solidFill>
                            <a:schemeClr val="tx1"/>
                          </a:solidFill>
                          <a:effectLst/>
                        </a:rPr>
                        <a:t>1369</a:t>
                      </a:r>
                      <a:endParaRPr lang="en-US" sz="1000" b="0" i="0" u="none" strike="noStrike" cap="none" spc="0">
                        <a:solidFill>
                          <a:schemeClr val="tx1"/>
                        </a:solidFill>
                        <a:effectLst/>
                        <a:latin typeface="Aptos Narrow" panose="020B0004020202020204" pitchFamily="34" charset="0"/>
                      </a:endParaRPr>
                    </a:p>
                  </a:txBody>
                  <a:tcPr marL="4621" marR="4621" marT="4621" marB="55455"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algn="r" fontAlgn="ctr">
                        <a:buNone/>
                      </a:pPr>
                      <a:r>
                        <a:rPr lang="en-US" sz="1000" u="none" strike="noStrike" cap="none" spc="0">
                          <a:solidFill>
                            <a:schemeClr val="tx1"/>
                          </a:solidFill>
                          <a:effectLst/>
                        </a:rPr>
                        <a:t>2049</a:t>
                      </a:r>
                      <a:endParaRPr lang="en-US" sz="1000" b="0" i="0" u="none" strike="noStrike" cap="none" spc="0">
                        <a:solidFill>
                          <a:schemeClr val="tx1"/>
                        </a:solidFill>
                        <a:effectLst/>
                        <a:latin typeface="Aptos Narrow" panose="020B0004020202020204" pitchFamily="34" charset="0"/>
                      </a:endParaRPr>
                    </a:p>
                  </a:txBody>
                  <a:tcPr marL="4621" marR="4621" marT="4621" marB="55455"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algn="r" fontAlgn="ctr">
                        <a:buNone/>
                      </a:pPr>
                      <a:r>
                        <a:rPr lang="en-US" sz="1000" u="none" strike="noStrike" cap="none" spc="0">
                          <a:solidFill>
                            <a:schemeClr val="tx1"/>
                          </a:solidFill>
                          <a:effectLst/>
                        </a:rPr>
                        <a:t>40.0527</a:t>
                      </a:r>
                      <a:endParaRPr lang="en-US" sz="1000" b="0" i="0" u="none" strike="noStrike" cap="none" spc="0">
                        <a:solidFill>
                          <a:schemeClr val="tx1"/>
                        </a:solidFill>
                        <a:effectLst/>
                        <a:latin typeface="Aptos Narrow" panose="020B0004020202020204" pitchFamily="34" charset="0"/>
                      </a:endParaRPr>
                    </a:p>
                  </a:txBody>
                  <a:tcPr marL="4621" marR="4621" marT="4621" marB="55455"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extLst>
                  <a:ext uri="{0D108BD9-81ED-4DB2-BD59-A6C34878D82A}">
                    <a16:rowId xmlns:a16="http://schemas.microsoft.com/office/drawing/2014/main" val="4098635031"/>
                  </a:ext>
                </a:extLst>
              </a:tr>
            </a:tbl>
          </a:graphicData>
        </a:graphic>
      </p:graphicFrame>
    </p:spTree>
    <p:extLst>
      <p:ext uri="{BB962C8B-B14F-4D97-AF65-F5344CB8AC3E}">
        <p14:creationId xmlns:p14="http://schemas.microsoft.com/office/powerpoint/2010/main" val="36709679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4ACE8-7935-56A2-0007-98BF0F4A7BDB}"/>
              </a:ext>
            </a:extLst>
          </p:cNvPr>
          <p:cNvSpPr>
            <a:spLocks noGrp="1"/>
          </p:cNvSpPr>
          <p:nvPr>
            <p:ph type="title"/>
          </p:nvPr>
        </p:nvSpPr>
        <p:spPr/>
        <p:txBody>
          <a:bodyPr/>
          <a:lstStyle/>
          <a:p>
            <a:r>
              <a:rPr lang="en-US"/>
              <a:t>Correlation Analysis</a:t>
            </a:r>
          </a:p>
        </p:txBody>
      </p:sp>
      <p:pic>
        <p:nvPicPr>
          <p:cNvPr id="4" name="Content Placeholder 3">
            <a:extLst>
              <a:ext uri="{FF2B5EF4-FFF2-40B4-BE49-F238E27FC236}">
                <a16:creationId xmlns:a16="http://schemas.microsoft.com/office/drawing/2014/main" id="{F44D6057-08A9-28B3-EC3B-C366D612698C}"/>
              </a:ext>
            </a:extLst>
          </p:cNvPr>
          <p:cNvPicPr>
            <a:picLocks noGrp="1" noChangeAspect="1"/>
          </p:cNvPicPr>
          <p:nvPr>
            <p:ph idx="1"/>
          </p:nvPr>
        </p:nvPicPr>
        <p:blipFill>
          <a:blip r:embed="rId2"/>
          <a:stretch>
            <a:fillRect/>
          </a:stretch>
        </p:blipFill>
        <p:spPr>
          <a:xfrm>
            <a:off x="4317376" y="1902558"/>
            <a:ext cx="6683402" cy="3983038"/>
          </a:xfrm>
          <a:prstGeom prst="rect">
            <a:avLst/>
          </a:prstGeom>
        </p:spPr>
      </p:pic>
      <p:sp>
        <p:nvSpPr>
          <p:cNvPr id="5" name="TextBox 4">
            <a:extLst>
              <a:ext uri="{FF2B5EF4-FFF2-40B4-BE49-F238E27FC236}">
                <a16:creationId xmlns:a16="http://schemas.microsoft.com/office/drawing/2014/main" id="{58214C39-6F1F-B227-AC45-4D958D5AD4C8}"/>
              </a:ext>
            </a:extLst>
          </p:cNvPr>
          <p:cNvSpPr txBox="1"/>
          <p:nvPr/>
        </p:nvSpPr>
        <p:spPr>
          <a:xfrm>
            <a:off x="321861" y="2502753"/>
            <a:ext cx="4206240" cy="3139321"/>
          </a:xfrm>
          <a:prstGeom prst="rect">
            <a:avLst/>
          </a:prstGeom>
          <a:noFill/>
        </p:spPr>
        <p:txBody>
          <a:bodyPr wrap="square" lIns="91440" tIns="45720" rIns="91440" bIns="45720" rtlCol="0" anchor="t">
            <a:spAutoFit/>
          </a:bodyPr>
          <a:lstStyle/>
          <a:p>
            <a:r>
              <a:rPr lang="en-US"/>
              <a:t>Our Target is to determine if viewership is increased or next season viewership did not increase.</a:t>
            </a:r>
          </a:p>
          <a:p>
            <a:endParaRPr lang="en-US"/>
          </a:p>
          <a:p>
            <a:r>
              <a:rPr lang="en-US"/>
              <a:t>This Correlation shows</a:t>
            </a:r>
          </a:p>
          <a:p>
            <a:endParaRPr lang="en-US"/>
          </a:p>
          <a:p>
            <a:r>
              <a:rPr lang="en-US"/>
              <a:t>+1 	</a:t>
            </a:r>
            <a:r>
              <a:rPr lang="en-US">
                <a:sym typeface="Wingdings" panose="05000000000000000000" pitchFamily="2" charset="2"/>
              </a:rPr>
              <a:t></a:t>
            </a:r>
            <a:r>
              <a:rPr lang="en-US"/>
              <a:t> Perfect Positive Relationship</a:t>
            </a:r>
          </a:p>
          <a:p>
            <a:r>
              <a:rPr lang="en-US"/>
              <a:t>+0.5 	</a:t>
            </a:r>
            <a:r>
              <a:rPr lang="en-US">
                <a:sym typeface="Wingdings" panose="05000000000000000000" pitchFamily="2" charset="2"/>
              </a:rPr>
              <a:t> Moderate +</a:t>
            </a:r>
            <a:r>
              <a:rPr lang="en-US" err="1">
                <a:sym typeface="Wingdings" panose="05000000000000000000" pitchFamily="2" charset="2"/>
              </a:rPr>
              <a:t>ve</a:t>
            </a:r>
            <a:r>
              <a:rPr lang="en-US">
                <a:sym typeface="Wingdings" panose="05000000000000000000" pitchFamily="2" charset="2"/>
              </a:rPr>
              <a:t> Relationship</a:t>
            </a:r>
            <a:endParaRPr lang="en-US"/>
          </a:p>
          <a:p>
            <a:r>
              <a:rPr lang="en-US">
                <a:sym typeface="Wingdings" panose="05000000000000000000" pitchFamily="2" charset="2"/>
              </a:rPr>
              <a:t>0	  No Relationship</a:t>
            </a:r>
          </a:p>
          <a:p>
            <a:r>
              <a:rPr lang="en-US">
                <a:sym typeface="Wingdings" panose="05000000000000000000" pitchFamily="2" charset="2"/>
              </a:rPr>
              <a:t>-0.5	  Moderate –</a:t>
            </a:r>
            <a:r>
              <a:rPr lang="en-US" err="1">
                <a:sym typeface="Wingdings" panose="05000000000000000000" pitchFamily="2" charset="2"/>
              </a:rPr>
              <a:t>ve</a:t>
            </a:r>
            <a:r>
              <a:rPr lang="en-US">
                <a:sym typeface="Wingdings" panose="05000000000000000000" pitchFamily="2" charset="2"/>
              </a:rPr>
              <a:t> relationship</a:t>
            </a:r>
            <a:endParaRPr lang="en-US"/>
          </a:p>
          <a:p>
            <a:r>
              <a:rPr lang="en-US">
                <a:sym typeface="Wingdings" panose="05000000000000000000" pitchFamily="2" charset="2"/>
              </a:rPr>
              <a:t>-1 	  Perfect –</a:t>
            </a:r>
            <a:r>
              <a:rPr lang="en-US" err="1">
                <a:sym typeface="Wingdings" panose="05000000000000000000" pitchFamily="2" charset="2"/>
              </a:rPr>
              <a:t>ve</a:t>
            </a:r>
            <a:r>
              <a:rPr lang="en-US">
                <a:sym typeface="Wingdings" panose="05000000000000000000" pitchFamily="2" charset="2"/>
              </a:rPr>
              <a:t> relationship</a:t>
            </a:r>
            <a:endParaRPr lang="en-US"/>
          </a:p>
        </p:txBody>
      </p:sp>
    </p:spTree>
    <p:extLst>
      <p:ext uri="{BB962C8B-B14F-4D97-AF65-F5344CB8AC3E}">
        <p14:creationId xmlns:p14="http://schemas.microsoft.com/office/powerpoint/2010/main" val="36971916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69AFA-C6DB-A963-C72E-714C6CEEBD01}"/>
              </a:ext>
            </a:extLst>
          </p:cNvPr>
          <p:cNvSpPr>
            <a:spLocks noGrp="1"/>
          </p:cNvSpPr>
          <p:nvPr>
            <p:ph type="title"/>
          </p:nvPr>
        </p:nvSpPr>
        <p:spPr>
          <a:xfrm>
            <a:off x="838200" y="0"/>
            <a:ext cx="10515600" cy="884555"/>
          </a:xfrm>
        </p:spPr>
        <p:txBody>
          <a:bodyPr/>
          <a:lstStyle/>
          <a:p>
            <a:r>
              <a:rPr lang="en-US"/>
              <a:t>Feature Correlation	</a:t>
            </a:r>
          </a:p>
        </p:txBody>
      </p:sp>
      <p:pic>
        <p:nvPicPr>
          <p:cNvPr id="4" name="Content Placeholder 3">
            <a:extLst>
              <a:ext uri="{FF2B5EF4-FFF2-40B4-BE49-F238E27FC236}">
                <a16:creationId xmlns:a16="http://schemas.microsoft.com/office/drawing/2014/main" id="{CD8D899A-9EAF-CAE9-6B26-D7DDD16AA149}"/>
              </a:ext>
            </a:extLst>
          </p:cNvPr>
          <p:cNvPicPr>
            <a:picLocks noGrp="1" noChangeAspect="1"/>
          </p:cNvPicPr>
          <p:nvPr>
            <p:ph idx="1"/>
          </p:nvPr>
        </p:nvPicPr>
        <p:blipFill>
          <a:blip r:embed="rId2"/>
          <a:stretch>
            <a:fillRect/>
          </a:stretch>
        </p:blipFill>
        <p:spPr>
          <a:xfrm>
            <a:off x="104671" y="884554"/>
            <a:ext cx="7160571" cy="5973445"/>
          </a:xfrm>
          <a:prstGeom prst="rect">
            <a:avLst/>
          </a:prstGeom>
        </p:spPr>
      </p:pic>
      <p:sp>
        <p:nvSpPr>
          <p:cNvPr id="5" name="TextBox 4">
            <a:extLst>
              <a:ext uri="{FF2B5EF4-FFF2-40B4-BE49-F238E27FC236}">
                <a16:creationId xmlns:a16="http://schemas.microsoft.com/office/drawing/2014/main" id="{8A788C82-061F-6B9E-C098-CDEC72B4D28D}"/>
              </a:ext>
            </a:extLst>
          </p:cNvPr>
          <p:cNvSpPr txBox="1"/>
          <p:nvPr/>
        </p:nvSpPr>
        <p:spPr>
          <a:xfrm>
            <a:off x="7487920" y="1026160"/>
            <a:ext cx="4196080" cy="3970318"/>
          </a:xfrm>
          <a:prstGeom prst="rect">
            <a:avLst/>
          </a:prstGeom>
          <a:noFill/>
        </p:spPr>
        <p:txBody>
          <a:bodyPr wrap="square" rtlCol="0">
            <a:spAutoFit/>
          </a:bodyPr>
          <a:lstStyle/>
          <a:p>
            <a:r>
              <a:rPr lang="en-US"/>
              <a:t>Key Observation correlation matrix:</a:t>
            </a:r>
          </a:p>
          <a:p>
            <a:endParaRPr lang="en-US"/>
          </a:p>
          <a:p>
            <a:r>
              <a:rPr lang="en-US"/>
              <a:t>1) No single predictor strongly explains next-season viewership increase. Largest correlation is 0.21</a:t>
            </a:r>
          </a:p>
          <a:p>
            <a:endParaRPr lang="en-US"/>
          </a:p>
          <a:p>
            <a:r>
              <a:rPr lang="en-US"/>
              <a:t>2) Documentary appears positively associated with viewership growth.</a:t>
            </a:r>
          </a:p>
          <a:p>
            <a:endParaRPr lang="en-US"/>
          </a:p>
          <a:p>
            <a:r>
              <a:rPr lang="en-US"/>
              <a:t>3) Drama shows the strongest negative association among the displayed genres.</a:t>
            </a:r>
          </a:p>
          <a:p>
            <a:endParaRPr lang="en-US"/>
          </a:p>
          <a:p>
            <a:r>
              <a:rPr lang="en-US"/>
              <a:t>4) IMDb vote-related engineered features are also redundant</a:t>
            </a:r>
          </a:p>
        </p:txBody>
      </p:sp>
    </p:spTree>
    <p:extLst>
      <p:ext uri="{BB962C8B-B14F-4D97-AF65-F5344CB8AC3E}">
        <p14:creationId xmlns:p14="http://schemas.microsoft.com/office/powerpoint/2010/main" val="36048717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D79F6-2850-3669-5281-C4D99AA22D7D}"/>
              </a:ext>
            </a:extLst>
          </p:cNvPr>
          <p:cNvSpPr>
            <a:spLocks noGrp="1"/>
          </p:cNvSpPr>
          <p:nvPr>
            <p:ph type="title"/>
          </p:nvPr>
        </p:nvSpPr>
        <p:spPr>
          <a:xfrm>
            <a:off x="603504" y="351270"/>
            <a:ext cx="10419006" cy="1239720"/>
          </a:xfrm>
        </p:spPr>
        <p:txBody>
          <a:bodyPr/>
          <a:lstStyle/>
          <a:p>
            <a:r>
              <a:rPr lang="en-US"/>
              <a:t>Relationship between Viewership change and Genre</a:t>
            </a:r>
          </a:p>
        </p:txBody>
      </p:sp>
      <p:pic>
        <p:nvPicPr>
          <p:cNvPr id="4" name="Content Placeholder 3">
            <a:extLst>
              <a:ext uri="{FF2B5EF4-FFF2-40B4-BE49-F238E27FC236}">
                <a16:creationId xmlns:a16="http://schemas.microsoft.com/office/drawing/2014/main" id="{C27EB293-D214-FCF5-1CC6-1EB7E1693462}"/>
              </a:ext>
            </a:extLst>
          </p:cNvPr>
          <p:cNvPicPr>
            <a:picLocks noGrp="1" noChangeAspect="1"/>
          </p:cNvPicPr>
          <p:nvPr>
            <p:ph idx="1"/>
          </p:nvPr>
        </p:nvPicPr>
        <p:blipFill>
          <a:blip r:embed="rId2"/>
          <a:stretch>
            <a:fillRect/>
          </a:stretch>
        </p:blipFill>
        <p:spPr>
          <a:xfrm>
            <a:off x="4299396" y="1653467"/>
            <a:ext cx="7755194" cy="3685482"/>
          </a:xfrm>
          <a:prstGeom prst="rect">
            <a:avLst/>
          </a:prstGeom>
        </p:spPr>
      </p:pic>
      <p:sp>
        <p:nvSpPr>
          <p:cNvPr id="5" name="TextBox 4">
            <a:extLst>
              <a:ext uri="{FF2B5EF4-FFF2-40B4-BE49-F238E27FC236}">
                <a16:creationId xmlns:a16="http://schemas.microsoft.com/office/drawing/2014/main" id="{09B77E88-3C07-93FE-2332-4BAB30E336AA}"/>
              </a:ext>
            </a:extLst>
          </p:cNvPr>
          <p:cNvSpPr txBox="1"/>
          <p:nvPr/>
        </p:nvSpPr>
        <p:spPr>
          <a:xfrm>
            <a:off x="412955" y="1966452"/>
            <a:ext cx="3883742" cy="3693319"/>
          </a:xfrm>
          <a:prstGeom prst="rect">
            <a:avLst/>
          </a:prstGeom>
          <a:noFill/>
        </p:spPr>
        <p:txBody>
          <a:bodyPr wrap="square" rtlCol="0">
            <a:spAutoFit/>
          </a:bodyPr>
          <a:lstStyle/>
          <a:p>
            <a:r>
              <a:rPr lang="en-US"/>
              <a:t>This is a descriptive analysis.</a:t>
            </a:r>
          </a:p>
          <a:p>
            <a:endParaRPr lang="en-US"/>
          </a:p>
          <a:p>
            <a:pPr marL="285750" indent="-285750">
              <a:buFont typeface="Arial" panose="020B0604020202020204" pitchFamily="34" charset="0"/>
              <a:buChar char="•"/>
            </a:pPr>
            <a:r>
              <a:rPr lang="en-US"/>
              <a:t>Genre appears to have meaningful association with next-season performance</a:t>
            </a:r>
          </a:p>
          <a:p>
            <a:pPr marL="285750" indent="-285750">
              <a:buFont typeface="Arial" panose="020B0604020202020204" pitchFamily="34" charset="0"/>
              <a:buChar char="•"/>
            </a:pPr>
            <a:r>
              <a:rPr lang="en-US"/>
              <a:t>Documentary, family, and animation have substantially higher observed increase rates than drama, fantasy, thriller, horror, and sci-fi.</a:t>
            </a:r>
          </a:p>
          <a:p>
            <a:pPr marL="285750" indent="-285750">
              <a:buFont typeface="Arial" panose="020B0604020202020204" pitchFamily="34" charset="0"/>
              <a:buChar char="•"/>
            </a:pPr>
            <a:r>
              <a:rPr lang="en-US"/>
              <a:t>Documentary shows roughly a 44–45% increase rate from 171 observations.</a:t>
            </a:r>
          </a:p>
        </p:txBody>
      </p:sp>
    </p:spTree>
    <p:extLst>
      <p:ext uri="{BB962C8B-B14F-4D97-AF65-F5344CB8AC3E}">
        <p14:creationId xmlns:p14="http://schemas.microsoft.com/office/powerpoint/2010/main" val="16197979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D0482-EDA0-51FE-ADE0-406084DA0754}"/>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Modeling and Evaluation</a:t>
            </a:r>
          </a:p>
        </p:txBody>
      </p:sp>
    </p:spTree>
    <p:extLst>
      <p:ext uri="{BB962C8B-B14F-4D97-AF65-F5344CB8AC3E}">
        <p14:creationId xmlns:p14="http://schemas.microsoft.com/office/powerpoint/2010/main" val="12954702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F9E6C-B601-EA58-5A44-0CDB60137EB7}"/>
              </a:ext>
            </a:extLst>
          </p:cNvPr>
          <p:cNvSpPr>
            <a:spLocks noGrp="1"/>
          </p:cNvSpPr>
          <p:nvPr>
            <p:ph type="title"/>
          </p:nvPr>
        </p:nvSpPr>
        <p:spPr>
          <a:xfrm>
            <a:off x="602986" y="265728"/>
            <a:ext cx="10981137" cy="1325563"/>
          </a:xfrm>
        </p:spPr>
        <p:txBody>
          <a:bodyPr anchor="b">
            <a:normAutofit/>
          </a:bodyPr>
          <a:lstStyle/>
          <a:p>
            <a:r>
              <a:rPr lang="en-US"/>
              <a:t>Workflow</a:t>
            </a:r>
          </a:p>
        </p:txBody>
      </p:sp>
      <p:sp>
        <p:nvSpPr>
          <p:cNvPr id="36" name="Footer Placeholder 3">
            <a:extLst>
              <a:ext uri="{FF2B5EF4-FFF2-40B4-BE49-F238E27FC236}">
                <a16:creationId xmlns:a16="http://schemas.microsoft.com/office/drawing/2014/main" id="{162E4AB7-43C0-7A2A-E198-5F0EC020B6DD}"/>
              </a:ext>
            </a:extLst>
          </p:cNvPr>
          <p:cNvSpPr>
            <a:spLocks noGrp="1"/>
          </p:cNvSpPr>
          <p:nvPr>
            <p:ph type="ftr" sz="quarter" idx="11"/>
          </p:nvPr>
        </p:nvSpPr>
        <p:spPr>
          <a:xfrm>
            <a:off x="605430" y="6029868"/>
            <a:ext cx="1911096" cy="365125"/>
          </a:xfrm>
        </p:spPr>
        <p:txBody>
          <a:bodyPr/>
          <a:lstStyle/>
          <a:p>
            <a:pPr>
              <a:spcAft>
                <a:spcPts val="600"/>
              </a:spcAft>
            </a:pPr>
            <a:r>
              <a:rPr lang="en-US"/>
              <a:t>
              </a:t>
            </a:r>
          </a:p>
        </p:txBody>
      </p:sp>
      <p:sp>
        <p:nvSpPr>
          <p:cNvPr id="37" name="Date Placeholder 4">
            <a:extLst>
              <a:ext uri="{FF2B5EF4-FFF2-40B4-BE49-F238E27FC236}">
                <a16:creationId xmlns:a16="http://schemas.microsoft.com/office/drawing/2014/main" id="{91E50AA2-7448-0F96-D262-A82F0A0E6A0D}"/>
              </a:ext>
            </a:extLst>
          </p:cNvPr>
          <p:cNvSpPr>
            <a:spLocks noGrp="1"/>
          </p:cNvSpPr>
          <p:nvPr>
            <p:ph type="dt" sz="half" idx="10"/>
          </p:nvPr>
        </p:nvSpPr>
        <p:spPr>
          <a:xfrm>
            <a:off x="10058400" y="6029868"/>
            <a:ext cx="1182686" cy="365125"/>
          </a:xfrm>
        </p:spPr>
        <p:txBody>
          <a:bodyPr/>
          <a:lstStyle/>
          <a:p>
            <a:pPr>
              <a:spcAft>
                <a:spcPts val="600"/>
              </a:spcAft>
            </a:pPr>
            <a:fld id="{963EAF9B-C3AC-4572-8E15-5E65273A631A}" type="datetime1">
              <a:rPr lang="en-US" smtClean="0"/>
              <a:pPr>
                <a:spcAft>
                  <a:spcPts val="600"/>
                </a:spcAft>
              </a:pPr>
              <a:t>8/15/2026</a:t>
            </a:fld>
            <a:endParaRPr lang="en-US"/>
          </a:p>
        </p:txBody>
      </p:sp>
      <p:sp>
        <p:nvSpPr>
          <p:cNvPr id="38" name="Slide Number Placeholder 5">
            <a:extLst>
              <a:ext uri="{FF2B5EF4-FFF2-40B4-BE49-F238E27FC236}">
                <a16:creationId xmlns:a16="http://schemas.microsoft.com/office/drawing/2014/main" id="{E6B3783F-CE50-25F8-4BAB-2795309C565D}"/>
              </a:ext>
            </a:extLst>
          </p:cNvPr>
          <p:cNvSpPr>
            <a:spLocks noGrp="1"/>
          </p:cNvSpPr>
          <p:nvPr>
            <p:ph type="sldNum" sz="quarter" idx="12"/>
          </p:nvPr>
        </p:nvSpPr>
        <p:spPr>
          <a:xfrm>
            <a:off x="11233434" y="6029868"/>
            <a:ext cx="429372" cy="365125"/>
          </a:xfrm>
        </p:spPr>
        <p:txBody>
          <a:bodyPr/>
          <a:lstStyle/>
          <a:p>
            <a:pPr>
              <a:spcAft>
                <a:spcPts val="600"/>
              </a:spcAft>
            </a:pPr>
            <a:fld id="{27F8DDA4-3B80-4E8A-A8F5-521F73BF9127}" type="slidenum">
              <a:rPr lang="en-US" smtClean="0"/>
              <a:pPr>
                <a:spcAft>
                  <a:spcPts val="600"/>
                </a:spcAft>
              </a:pPr>
              <a:t>11</a:t>
            </a:fld>
            <a:endParaRPr lang="en-US"/>
          </a:p>
        </p:txBody>
      </p:sp>
      <p:graphicFrame>
        <p:nvGraphicFramePr>
          <p:cNvPr id="4" name="Content Placeholder 3">
            <a:extLst>
              <a:ext uri="{FF2B5EF4-FFF2-40B4-BE49-F238E27FC236}">
                <a16:creationId xmlns:a16="http://schemas.microsoft.com/office/drawing/2014/main" id="{0F78CC12-93D5-EF3F-BE54-D563E210D745}"/>
              </a:ext>
            </a:extLst>
          </p:cNvPr>
          <p:cNvGraphicFramePr>
            <a:graphicFrameLocks noGrp="1"/>
          </p:cNvGraphicFramePr>
          <p:nvPr>
            <p:ph idx="1"/>
            <p:extLst>
              <p:ext uri="{D42A27DB-BD31-4B8C-83A1-F6EECF244321}">
                <p14:modId xmlns:p14="http://schemas.microsoft.com/office/powerpoint/2010/main" val="2928613521"/>
              </p:ext>
            </p:extLst>
          </p:nvPr>
        </p:nvGraphicFramePr>
        <p:xfrm>
          <a:off x="602986" y="1736176"/>
          <a:ext cx="10981137" cy="41988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407737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92BEA-1EEC-83EC-AB35-2865DF5D1B92}"/>
              </a:ext>
            </a:extLst>
          </p:cNvPr>
          <p:cNvSpPr>
            <a:spLocks noGrp="1"/>
          </p:cNvSpPr>
          <p:nvPr>
            <p:ph type="title"/>
          </p:nvPr>
        </p:nvSpPr>
        <p:spPr/>
        <p:txBody>
          <a:bodyPr/>
          <a:lstStyle/>
          <a:p>
            <a:r>
              <a:rPr lang="en-US"/>
              <a:t>Planned Implementation vs Final Implementation</a:t>
            </a:r>
          </a:p>
        </p:txBody>
      </p:sp>
      <p:sp>
        <p:nvSpPr>
          <p:cNvPr id="3" name="Text Placeholder 2">
            <a:extLst>
              <a:ext uri="{FF2B5EF4-FFF2-40B4-BE49-F238E27FC236}">
                <a16:creationId xmlns:a16="http://schemas.microsoft.com/office/drawing/2014/main" id="{3F2C5C0F-90E4-49B5-5E92-BD91C108A55E}"/>
              </a:ext>
            </a:extLst>
          </p:cNvPr>
          <p:cNvSpPr>
            <a:spLocks noGrp="1"/>
          </p:cNvSpPr>
          <p:nvPr>
            <p:ph type="body" idx="1"/>
          </p:nvPr>
        </p:nvSpPr>
        <p:spPr/>
        <p:txBody>
          <a:bodyPr/>
          <a:lstStyle/>
          <a:p>
            <a:r>
              <a:rPr lang="en-US"/>
              <a:t>Planned</a:t>
            </a:r>
          </a:p>
        </p:txBody>
      </p:sp>
      <p:sp>
        <p:nvSpPr>
          <p:cNvPr id="4" name="Content Placeholder 3">
            <a:extLst>
              <a:ext uri="{FF2B5EF4-FFF2-40B4-BE49-F238E27FC236}">
                <a16:creationId xmlns:a16="http://schemas.microsoft.com/office/drawing/2014/main" id="{1106B62E-6941-BACD-11FB-DA1025692E3C}"/>
              </a:ext>
            </a:extLst>
          </p:cNvPr>
          <p:cNvSpPr>
            <a:spLocks noGrp="1"/>
          </p:cNvSpPr>
          <p:nvPr>
            <p:ph sz="half" idx="2"/>
          </p:nvPr>
        </p:nvSpPr>
        <p:spPr>
          <a:xfrm>
            <a:off x="839788" y="2505075"/>
            <a:ext cx="5157787" cy="3176588"/>
          </a:xfrm>
        </p:spPr>
        <p:txBody>
          <a:bodyPr vert="horz" lIns="91440" tIns="45720" rIns="91440" bIns="45720" rtlCol="0" anchor="t">
            <a:normAutofit fontScale="92500" lnSpcReduction="20000"/>
          </a:bodyPr>
          <a:lstStyle/>
          <a:p>
            <a:r>
              <a:rPr lang="en-US"/>
              <a:t>Retention metric over a similar window </a:t>
            </a:r>
          </a:p>
          <a:p>
            <a:r>
              <a:rPr lang="en-US"/>
              <a:t>Predictors</a:t>
            </a:r>
          </a:p>
          <a:p>
            <a:pPr lvl="1">
              <a:buFont typeface="Courier New" panose="020B0604020202020204" pitchFamily="34" charset="0"/>
              <a:buChar char="o"/>
            </a:pPr>
            <a:r>
              <a:rPr lang="en-US"/>
              <a:t>IMDb rating</a:t>
            </a:r>
          </a:p>
          <a:p>
            <a:pPr lvl="1">
              <a:buFont typeface="Courier New" panose="020B0604020202020204" pitchFamily="34" charset="0"/>
              <a:buChar char="o"/>
            </a:pPr>
            <a:r>
              <a:rPr lang="en-US"/>
              <a:t>Time between seasons</a:t>
            </a:r>
          </a:p>
          <a:p>
            <a:pPr lvl="1">
              <a:buFont typeface="Courier New" panose="020B0604020202020204" pitchFamily="34" charset="0"/>
              <a:buChar char="o"/>
            </a:pPr>
            <a:r>
              <a:rPr lang="en-US"/>
              <a:t>Cast Continuity</a:t>
            </a:r>
          </a:p>
          <a:p>
            <a:r>
              <a:rPr lang="en-US"/>
              <a:t>Planned 80/20 split</a:t>
            </a:r>
          </a:p>
          <a:p>
            <a:endParaRPr lang="en-US"/>
          </a:p>
        </p:txBody>
      </p:sp>
      <p:sp>
        <p:nvSpPr>
          <p:cNvPr id="5" name="Text Placeholder 4">
            <a:extLst>
              <a:ext uri="{FF2B5EF4-FFF2-40B4-BE49-F238E27FC236}">
                <a16:creationId xmlns:a16="http://schemas.microsoft.com/office/drawing/2014/main" id="{D046C23B-5B70-D517-846A-4A517B8BF85B}"/>
              </a:ext>
            </a:extLst>
          </p:cNvPr>
          <p:cNvSpPr>
            <a:spLocks noGrp="1"/>
          </p:cNvSpPr>
          <p:nvPr>
            <p:ph type="body" sz="quarter" idx="3"/>
          </p:nvPr>
        </p:nvSpPr>
        <p:spPr/>
        <p:txBody>
          <a:bodyPr/>
          <a:lstStyle/>
          <a:p>
            <a:r>
              <a:rPr lang="en-US"/>
              <a:t>Final</a:t>
            </a:r>
          </a:p>
        </p:txBody>
      </p:sp>
      <p:sp>
        <p:nvSpPr>
          <p:cNvPr id="6" name="Content Placeholder 5">
            <a:extLst>
              <a:ext uri="{FF2B5EF4-FFF2-40B4-BE49-F238E27FC236}">
                <a16:creationId xmlns:a16="http://schemas.microsoft.com/office/drawing/2014/main" id="{A5488BD4-DC7B-CD81-2514-D582051CD4A4}"/>
              </a:ext>
            </a:extLst>
          </p:cNvPr>
          <p:cNvSpPr>
            <a:spLocks noGrp="1"/>
          </p:cNvSpPr>
          <p:nvPr>
            <p:ph sz="quarter" idx="4"/>
          </p:nvPr>
        </p:nvSpPr>
        <p:spPr>
          <a:xfrm>
            <a:off x="6172200" y="2505075"/>
            <a:ext cx="5183188" cy="3121669"/>
          </a:xfrm>
        </p:spPr>
        <p:txBody>
          <a:bodyPr vert="horz" lIns="91440" tIns="45720" rIns="91440" bIns="45720" rtlCol="0" anchor="t">
            <a:normAutofit fontScale="92500" lnSpcReduction="20000"/>
          </a:bodyPr>
          <a:lstStyle/>
          <a:p>
            <a:r>
              <a:rPr lang="en-US"/>
              <a:t>Used total season 2 views / season 1 views</a:t>
            </a:r>
          </a:p>
          <a:p>
            <a:r>
              <a:rPr lang="en-US"/>
              <a:t>Predictors</a:t>
            </a:r>
          </a:p>
          <a:p>
            <a:pPr lvl="1">
              <a:buFont typeface="Courier New" panose="020B0604020202020204" pitchFamily="34" charset="0"/>
              <a:buChar char="o"/>
            </a:pPr>
            <a:r>
              <a:rPr lang="en-US"/>
              <a:t>IMDb average rating</a:t>
            </a:r>
          </a:p>
          <a:p>
            <a:pPr lvl="1">
              <a:buFont typeface="Courier New" panose="020B0604020202020204" pitchFamily="34" charset="0"/>
              <a:buChar char="o"/>
            </a:pPr>
            <a:r>
              <a:rPr lang="en-US"/>
              <a:t>IMDb vote count (used for gauging viewer engagement)</a:t>
            </a:r>
          </a:p>
          <a:p>
            <a:pPr lvl="1">
              <a:buFont typeface="Courier New" panose="020B0604020202020204" pitchFamily="34" charset="0"/>
              <a:buChar char="o"/>
            </a:pPr>
            <a:r>
              <a:rPr lang="en-US"/>
              <a:t>Other variables were not available reliably</a:t>
            </a:r>
          </a:p>
          <a:p>
            <a:r>
              <a:rPr lang="en-US"/>
              <a:t>70 / 30 split implemented</a:t>
            </a:r>
          </a:p>
          <a:p>
            <a:pPr lvl="1">
              <a:buFont typeface="Courier New" panose="020B0604020202020204" pitchFamily="34" charset="0"/>
              <a:buChar char="o"/>
            </a:pPr>
            <a:endParaRPr lang="en-US"/>
          </a:p>
        </p:txBody>
      </p:sp>
      <p:sp>
        <p:nvSpPr>
          <p:cNvPr id="7" name="TextBox 6">
            <a:extLst>
              <a:ext uri="{FF2B5EF4-FFF2-40B4-BE49-F238E27FC236}">
                <a16:creationId xmlns:a16="http://schemas.microsoft.com/office/drawing/2014/main" id="{5951E8F2-960B-B4F8-675A-E1EA39C377B0}"/>
              </a:ext>
            </a:extLst>
          </p:cNvPr>
          <p:cNvSpPr txBox="1"/>
          <p:nvPr/>
        </p:nvSpPr>
        <p:spPr>
          <a:xfrm>
            <a:off x="674623" y="4956765"/>
            <a:ext cx="1018466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The primary issue ended up being data availability. The data didn't provide the season specific information we needed as we needed it. Rather than changing the entire proposal, we wanted to continue to use our model and evaluation methods but shift it so we could use the data we do have. </a:t>
            </a:r>
          </a:p>
          <a:p>
            <a:pPr algn="l"/>
            <a:endParaRPr lang="en-US"/>
          </a:p>
        </p:txBody>
      </p:sp>
    </p:spTree>
    <p:extLst>
      <p:ext uri="{BB962C8B-B14F-4D97-AF65-F5344CB8AC3E}">
        <p14:creationId xmlns:p14="http://schemas.microsoft.com/office/powerpoint/2010/main" val="27363842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0F5945-159C-5C28-7958-191E851A3E00}"/>
              </a:ext>
            </a:extLst>
          </p:cNvPr>
          <p:cNvSpPr>
            <a:spLocks noGrp="1"/>
          </p:cNvSpPr>
          <p:nvPr>
            <p:ph type="title"/>
          </p:nvPr>
        </p:nvSpPr>
        <p:spPr>
          <a:xfrm>
            <a:off x="288562" y="1412488"/>
            <a:ext cx="3530024" cy="4363844"/>
          </a:xfrm>
        </p:spPr>
        <p:txBody>
          <a:bodyPr anchor="t">
            <a:normAutofit/>
          </a:bodyPr>
          <a:lstStyle/>
          <a:p>
            <a:r>
              <a:rPr lang="en-US" sz="4000">
                <a:solidFill>
                  <a:schemeClr val="tx1"/>
                </a:solidFill>
              </a:rPr>
              <a:t>Prediction and Classification</a:t>
            </a:r>
            <a:br>
              <a:rPr lang="en-US" sz="4000">
                <a:solidFill>
                  <a:schemeClr val="tx1"/>
                </a:solidFill>
              </a:rPr>
            </a:br>
            <a:br>
              <a:rPr lang="en-US" sz="4000"/>
            </a:br>
            <a:br>
              <a:rPr lang="en-US" sz="4000"/>
            </a:br>
            <a:endParaRPr lang="en-US" sz="1800">
              <a:solidFill>
                <a:schemeClr val="tx1"/>
              </a:solidFill>
            </a:endParaRPr>
          </a:p>
        </p:txBody>
      </p:sp>
      <p:sp>
        <p:nvSpPr>
          <p:cNvPr id="3" name="Content Placeholder 2">
            <a:extLst>
              <a:ext uri="{FF2B5EF4-FFF2-40B4-BE49-F238E27FC236}">
                <a16:creationId xmlns:a16="http://schemas.microsoft.com/office/drawing/2014/main" id="{6F81D4E1-5ED9-CA66-D088-5101D5569940}"/>
              </a:ext>
            </a:extLst>
          </p:cNvPr>
          <p:cNvSpPr>
            <a:spLocks noGrp="1"/>
          </p:cNvSpPr>
          <p:nvPr>
            <p:ph sz="half" idx="1"/>
          </p:nvPr>
        </p:nvSpPr>
        <p:spPr>
          <a:xfrm>
            <a:off x="4380855" y="2080800"/>
            <a:ext cx="3427283" cy="4363844"/>
          </a:xfrm>
        </p:spPr>
        <p:txBody>
          <a:bodyPr vert="horz" lIns="91440" tIns="45720" rIns="91440" bIns="45720" rtlCol="0" anchor="t">
            <a:normAutofit/>
          </a:bodyPr>
          <a:lstStyle/>
          <a:p>
            <a:r>
              <a:rPr lang="en-US" sz="2000"/>
              <a:t>Predicting retention using multiple linear regression.</a:t>
            </a:r>
          </a:p>
          <a:p>
            <a:r>
              <a:rPr lang="en-US" sz="2000"/>
              <a:t>Evaluate based on MAE, RMSE, median baseline</a:t>
            </a:r>
          </a:p>
          <a:p>
            <a:r>
              <a:rPr lang="en-US" sz="2000"/>
              <a:t>How close are predictions to the real retention ratio?</a:t>
            </a:r>
          </a:p>
        </p:txBody>
      </p:sp>
      <p:sp>
        <p:nvSpPr>
          <p:cNvPr id="4" name="Content Placeholder 3">
            <a:extLst>
              <a:ext uri="{FF2B5EF4-FFF2-40B4-BE49-F238E27FC236}">
                <a16:creationId xmlns:a16="http://schemas.microsoft.com/office/drawing/2014/main" id="{960D2084-2989-745B-46F4-6EF4538C10EF}"/>
              </a:ext>
            </a:extLst>
          </p:cNvPr>
          <p:cNvSpPr>
            <a:spLocks noGrp="1"/>
          </p:cNvSpPr>
          <p:nvPr>
            <p:ph sz="half" idx="2"/>
          </p:nvPr>
        </p:nvSpPr>
        <p:spPr>
          <a:xfrm>
            <a:off x="8401637" y="2080800"/>
            <a:ext cx="3197701" cy="4363844"/>
          </a:xfrm>
        </p:spPr>
        <p:txBody>
          <a:bodyPr vert="horz" lIns="91440" tIns="45720" rIns="91440" bIns="45720" rtlCol="0" anchor="t">
            <a:normAutofit/>
          </a:bodyPr>
          <a:lstStyle/>
          <a:p>
            <a:r>
              <a:rPr lang="en-US" sz="2000"/>
              <a:t>Output retention classification</a:t>
            </a:r>
          </a:p>
          <a:p>
            <a:pPr lvl="1">
              <a:buFont typeface="Courier New" panose="020B0604020202020204" pitchFamily="34" charset="0"/>
              <a:buChar char="o"/>
            </a:pPr>
            <a:r>
              <a:rPr lang="en-US" sz="1600"/>
              <a:t>Greater than or equal to 70%</a:t>
            </a:r>
          </a:p>
          <a:p>
            <a:pPr lvl="1">
              <a:buFont typeface="Courier New" panose="020B0604020202020204" pitchFamily="34" charset="0"/>
              <a:buChar char="o"/>
            </a:pPr>
            <a:r>
              <a:rPr lang="en-US" sz="1600"/>
              <a:t>Less than 70%</a:t>
            </a:r>
          </a:p>
          <a:p>
            <a:r>
              <a:rPr lang="en-US" sz="2000"/>
              <a:t>Does the prediction retention fall below or above 70%. </a:t>
            </a:r>
          </a:p>
        </p:txBody>
      </p:sp>
      <p:sp>
        <p:nvSpPr>
          <p:cNvPr id="5" name="TextBox 4">
            <a:extLst>
              <a:ext uri="{FF2B5EF4-FFF2-40B4-BE49-F238E27FC236}">
                <a16:creationId xmlns:a16="http://schemas.microsoft.com/office/drawing/2014/main" id="{8C7DDA8B-106D-34BC-5612-5060DCE5FF88}"/>
              </a:ext>
            </a:extLst>
          </p:cNvPr>
          <p:cNvSpPr txBox="1"/>
          <p:nvPr/>
        </p:nvSpPr>
        <p:spPr>
          <a:xfrm>
            <a:off x="4451508" y="1407267"/>
            <a:ext cx="329334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Multiple Linear Regression</a:t>
            </a:r>
          </a:p>
        </p:txBody>
      </p:sp>
      <p:sp>
        <p:nvSpPr>
          <p:cNvPr id="6" name="TextBox 5">
            <a:extLst>
              <a:ext uri="{FF2B5EF4-FFF2-40B4-BE49-F238E27FC236}">
                <a16:creationId xmlns:a16="http://schemas.microsoft.com/office/drawing/2014/main" id="{8A8F1A69-F955-6041-9014-E7B5755FD830}"/>
              </a:ext>
            </a:extLst>
          </p:cNvPr>
          <p:cNvSpPr txBox="1"/>
          <p:nvPr/>
        </p:nvSpPr>
        <p:spPr>
          <a:xfrm>
            <a:off x="8852928" y="1409390"/>
            <a:ext cx="229436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Decision Tree</a:t>
            </a:r>
            <a:endParaRPr lang="en-US"/>
          </a:p>
        </p:txBody>
      </p:sp>
      <p:sp>
        <p:nvSpPr>
          <p:cNvPr id="7" name="TextBox 6">
            <a:extLst>
              <a:ext uri="{FF2B5EF4-FFF2-40B4-BE49-F238E27FC236}">
                <a16:creationId xmlns:a16="http://schemas.microsoft.com/office/drawing/2014/main" id="{C185A14E-2049-AD98-7FCF-54992C104467}"/>
              </a:ext>
            </a:extLst>
          </p:cNvPr>
          <p:cNvSpPr txBox="1"/>
          <p:nvPr/>
        </p:nvSpPr>
        <p:spPr>
          <a:xfrm>
            <a:off x="391187" y="4828385"/>
            <a:ext cx="1142254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cap="all">
                <a:latin typeface="Oswald SemiBold"/>
              </a:rPr>
              <a:t>Retention = Season 2 Total Views ÷ Season 1 Total views</a:t>
            </a:r>
            <a:br>
              <a:rPr lang="en-US" sz="3600" cap="all">
                <a:latin typeface="Oswald SemiBold"/>
              </a:rPr>
            </a:br>
            <a:endParaRPr lang="en-US" sz="3600">
              <a:solidFill>
                <a:srgbClr val="000000"/>
              </a:solidFill>
              <a:latin typeface="Oswald SemiBold"/>
            </a:endParaRPr>
          </a:p>
        </p:txBody>
      </p:sp>
    </p:spTree>
    <p:extLst>
      <p:ext uri="{BB962C8B-B14F-4D97-AF65-F5344CB8AC3E}">
        <p14:creationId xmlns:p14="http://schemas.microsoft.com/office/powerpoint/2010/main" val="10360697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CD1258-FB4C-A21B-920E-B672862972ED}"/>
              </a:ext>
            </a:extLst>
          </p:cNvPr>
          <p:cNvSpPr>
            <a:spLocks noGrp="1"/>
          </p:cNvSpPr>
          <p:nvPr>
            <p:ph type="title"/>
          </p:nvPr>
        </p:nvSpPr>
        <p:spPr/>
        <p:txBody>
          <a:bodyPr/>
          <a:lstStyle/>
          <a:p>
            <a:r>
              <a:rPr lang="en-US"/>
              <a:t>Multiple Linear Regression</a:t>
            </a:r>
          </a:p>
          <a:p>
            <a:endParaRPr lang="en-US"/>
          </a:p>
        </p:txBody>
      </p:sp>
      <p:sp>
        <p:nvSpPr>
          <p:cNvPr id="3" name="Content Placeholder 2">
            <a:extLst>
              <a:ext uri="{FF2B5EF4-FFF2-40B4-BE49-F238E27FC236}">
                <a16:creationId xmlns:a16="http://schemas.microsoft.com/office/drawing/2014/main" id="{677D4023-3F84-FF87-A0E5-2161661623DE}"/>
              </a:ext>
            </a:extLst>
          </p:cNvPr>
          <p:cNvSpPr>
            <a:spLocks noGrp="1"/>
          </p:cNvSpPr>
          <p:nvPr>
            <p:ph sz="half" idx="1"/>
          </p:nvPr>
        </p:nvSpPr>
        <p:spPr>
          <a:xfrm>
            <a:off x="257331" y="1825625"/>
            <a:ext cx="4182256" cy="4445026"/>
          </a:xfrm>
        </p:spPr>
        <p:txBody>
          <a:bodyPr vert="horz" lIns="91440" tIns="45720" rIns="91440" bIns="45720" rtlCol="0" anchor="t">
            <a:normAutofit/>
          </a:bodyPr>
          <a:lstStyle/>
          <a:p>
            <a:r>
              <a:rPr lang="en-US"/>
              <a:t>1295 season 1 to 2 observations made</a:t>
            </a:r>
          </a:p>
          <a:p>
            <a:r>
              <a:rPr lang="en-US"/>
              <a:t>Average retention: 78.68%</a:t>
            </a:r>
          </a:p>
          <a:p>
            <a:r>
              <a:rPr lang="en-US"/>
              <a:t>Median: 71.05%</a:t>
            </a:r>
          </a:p>
          <a:p>
            <a:r>
              <a:rPr lang="en-US"/>
              <a:t>Standard Deviation: 51.79%</a:t>
            </a:r>
          </a:p>
          <a:p>
            <a:r>
              <a:rPr lang="en-US"/>
              <a:t>High Retention Cases: </a:t>
            </a:r>
          </a:p>
          <a:p>
            <a:pPr lvl="1">
              <a:buFont typeface="Courier New" panose="020B0604020202020204" pitchFamily="34" charset="0"/>
              <a:buChar char="o"/>
            </a:pPr>
            <a:r>
              <a:rPr lang="en-US"/>
              <a:t>157 over 100%</a:t>
            </a:r>
          </a:p>
          <a:p>
            <a:pPr lvl="1">
              <a:buFont typeface="Courier New" panose="020B0604020202020204" pitchFamily="34" charset="0"/>
              <a:buChar char="o"/>
            </a:pPr>
            <a:r>
              <a:rPr lang="en-US"/>
              <a:t>25 over 200%</a:t>
            </a:r>
          </a:p>
          <a:p>
            <a:endParaRPr lang="en-US"/>
          </a:p>
          <a:p>
            <a:endParaRPr lang="en-US"/>
          </a:p>
        </p:txBody>
      </p:sp>
      <p:graphicFrame>
        <p:nvGraphicFramePr>
          <p:cNvPr id="5" name="Chart 4">
            <a:extLst>
              <a:ext uri="{FF2B5EF4-FFF2-40B4-BE49-F238E27FC236}">
                <a16:creationId xmlns:a16="http://schemas.microsoft.com/office/drawing/2014/main" id="{023311EE-86C4-A8BB-E470-F76D664B0F7C}"/>
              </a:ext>
            </a:extLst>
          </p:cNvPr>
          <p:cNvGraphicFramePr/>
          <p:nvPr>
            <p:extLst>
              <p:ext uri="{D42A27DB-BD31-4B8C-83A1-F6EECF244321}">
                <p14:modId xmlns:p14="http://schemas.microsoft.com/office/powerpoint/2010/main" val="947964304"/>
              </p:ext>
            </p:extLst>
          </p:nvPr>
        </p:nvGraphicFramePr>
        <p:xfrm>
          <a:off x="4522033" y="1899118"/>
          <a:ext cx="7532557" cy="420276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7666751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BF2FC-6A16-FA8E-D2A2-137F712F4268}"/>
              </a:ext>
            </a:extLst>
          </p:cNvPr>
          <p:cNvSpPr>
            <a:spLocks noGrp="1"/>
          </p:cNvSpPr>
          <p:nvPr>
            <p:ph type="title"/>
          </p:nvPr>
        </p:nvSpPr>
        <p:spPr>
          <a:xfrm>
            <a:off x="339864" y="480485"/>
            <a:ext cx="3438144" cy="1239012"/>
          </a:xfrm>
        </p:spPr>
        <p:txBody>
          <a:bodyPr vert="horz" lIns="91440" tIns="45720" rIns="91440" bIns="45720" rtlCol="0" anchor="ctr">
            <a:normAutofit/>
          </a:bodyPr>
          <a:lstStyle/>
          <a:p>
            <a:r>
              <a:rPr lang="en-US" sz="2800" kern="1200">
                <a:solidFill>
                  <a:schemeClr val="tx1"/>
                </a:solidFill>
                <a:latin typeface="+mj-lt"/>
                <a:ea typeface="+mj-ea"/>
                <a:cs typeface="+mj-cs"/>
              </a:rPr>
              <a:t>Decision Tree </a:t>
            </a:r>
          </a:p>
        </p:txBody>
      </p:sp>
      <p:pic>
        <p:nvPicPr>
          <p:cNvPr id="5" name="Content Placeholder 4">
            <a:extLst>
              <a:ext uri="{FF2B5EF4-FFF2-40B4-BE49-F238E27FC236}">
                <a16:creationId xmlns:a16="http://schemas.microsoft.com/office/drawing/2014/main" id="{0F443F66-BDF9-3B2E-A60F-A7DE03E66AEB}"/>
              </a:ext>
            </a:extLst>
          </p:cNvPr>
          <p:cNvPicPr>
            <a:picLocks noGrp="1" noChangeAspect="1"/>
          </p:cNvPicPr>
          <p:nvPr>
            <p:ph idx="1"/>
          </p:nvPr>
        </p:nvPicPr>
        <p:blipFill>
          <a:blip r:embed="rId2"/>
          <a:stretch>
            <a:fillRect/>
          </a:stretch>
        </p:blipFill>
        <p:spPr>
          <a:xfrm>
            <a:off x="3227281" y="1098244"/>
            <a:ext cx="9151793" cy="4643425"/>
          </a:xfrm>
          <a:prstGeom prst="rect">
            <a:avLst/>
          </a:prstGeom>
        </p:spPr>
      </p:pic>
      <p:sp>
        <p:nvSpPr>
          <p:cNvPr id="4" name="Content Placeholder 3">
            <a:extLst>
              <a:ext uri="{FF2B5EF4-FFF2-40B4-BE49-F238E27FC236}">
                <a16:creationId xmlns:a16="http://schemas.microsoft.com/office/drawing/2014/main" id="{6B13493E-8583-6568-8F79-E4851040CA87}"/>
              </a:ext>
            </a:extLst>
          </p:cNvPr>
          <p:cNvSpPr>
            <a:spLocks noGrp="1"/>
          </p:cNvSpPr>
          <p:nvPr>
            <p:ph type="body" sz="half" idx="2"/>
          </p:nvPr>
        </p:nvSpPr>
        <p:spPr>
          <a:xfrm>
            <a:off x="339864" y="1362693"/>
            <a:ext cx="3784346" cy="3786378"/>
          </a:xfrm>
        </p:spPr>
        <p:txBody>
          <a:bodyPr vert="horz" lIns="91440" tIns="45720" rIns="91440" bIns="45720" rtlCol="0" anchor="t">
            <a:normAutofit lnSpcReduction="10000"/>
          </a:bodyPr>
          <a:lstStyle/>
          <a:p>
            <a:pPr marL="285750" indent="-285750">
              <a:buChar char="•"/>
            </a:pPr>
            <a:r>
              <a:rPr lang="en-US" sz="1700"/>
              <a:t>Breakdown</a:t>
            </a:r>
          </a:p>
          <a:p>
            <a:pPr marL="742950" lvl="1" indent="-285750">
              <a:buFont typeface="Courier New" panose="020B0604020202020204" pitchFamily="34" charset="0"/>
              <a:buChar char="o"/>
            </a:pPr>
            <a:r>
              <a:rPr lang="en-US" sz="1500"/>
              <a:t>674 (52.05%) greater than or equal to 70%</a:t>
            </a:r>
          </a:p>
          <a:p>
            <a:pPr marL="742950" lvl="1" indent="-285750">
              <a:buFont typeface="Courier New" panose="020B0604020202020204" pitchFamily="34" charset="0"/>
              <a:buChar char="o"/>
            </a:pPr>
            <a:r>
              <a:rPr lang="en-US" sz="1500"/>
              <a:t>621 (47.94%) less than 70%</a:t>
            </a:r>
          </a:p>
          <a:p>
            <a:pPr marL="285750" indent="-285750">
              <a:buFont typeface="Arial" panose="020B0604020202020204" pitchFamily="34" charset="0"/>
              <a:buChar char="•"/>
            </a:pPr>
            <a:r>
              <a:rPr lang="en-US" sz="1700"/>
              <a:t>0: =&gt;70% retention</a:t>
            </a:r>
            <a:endParaRPr lang="en-US" sz="1700" dirty="0"/>
          </a:p>
          <a:p>
            <a:pPr marL="285750" indent="-285750">
              <a:buFont typeface="Arial" panose="020B0604020202020204" pitchFamily="34" charset="0"/>
              <a:buChar char="•"/>
            </a:pPr>
            <a:r>
              <a:rPr lang="en-US" sz="1700"/>
              <a:t>1: &lt;70% retention</a:t>
            </a:r>
            <a:endParaRPr lang="en-US" sz="1700" dirty="0"/>
          </a:p>
          <a:p>
            <a:pPr marL="285750" indent="-285750">
              <a:buFont typeface="Arial" panose="020B0604020202020204" pitchFamily="34" charset="0"/>
              <a:buChar char="•"/>
            </a:pPr>
            <a:r>
              <a:rPr lang="en-US" sz="1700"/>
              <a:t>Evaluation results</a:t>
            </a:r>
          </a:p>
          <a:p>
            <a:pPr marL="742950" lvl="1" indent="-285750">
              <a:buFont typeface="Courier New" panose="020B0604020202020204" pitchFamily="34" charset="0"/>
              <a:buChar char="o"/>
            </a:pPr>
            <a:r>
              <a:rPr lang="en-US" sz="1500"/>
              <a:t>Balanced Accuracy 50.27%</a:t>
            </a:r>
          </a:p>
          <a:p>
            <a:pPr marL="742950" lvl="1" indent="-285750">
              <a:buFont typeface="Courier New" panose="020B0604020202020204" pitchFamily="34" charset="0"/>
              <a:buChar char="o"/>
            </a:pPr>
            <a:r>
              <a:rPr lang="en-US" sz="1500"/>
              <a:t>Baseline Balanced Accuracy 50%</a:t>
            </a:r>
          </a:p>
          <a:p>
            <a:pPr marL="742950" lvl="1" indent="-285750">
              <a:buFont typeface="Courier New" panose="020B0604020202020204" pitchFamily="34" charset="0"/>
              <a:buChar char="o"/>
            </a:pPr>
            <a:r>
              <a:rPr lang="en-US" sz="1500"/>
              <a:t>F1 Score for Low Retention: 34.93%</a:t>
            </a:r>
          </a:p>
          <a:p>
            <a:pPr marL="742950" lvl="1" indent="-285750">
              <a:buFont typeface="Courier New" panose="020B0604020202020204" pitchFamily="34" charset="0"/>
              <a:buChar char="o"/>
            </a:pPr>
            <a:r>
              <a:rPr lang="en-US" sz="1500"/>
              <a:t>Baseline F1 Score: 0%</a:t>
            </a:r>
          </a:p>
          <a:p>
            <a:pPr marL="285750" indent="-285750">
              <a:buChar char="•"/>
            </a:pPr>
            <a:endParaRPr lang="en-US" sz="1700"/>
          </a:p>
        </p:txBody>
      </p:sp>
    </p:spTree>
    <p:extLst>
      <p:ext uri="{BB962C8B-B14F-4D97-AF65-F5344CB8AC3E}">
        <p14:creationId xmlns:p14="http://schemas.microsoft.com/office/powerpoint/2010/main" val="31267212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BA6FC-B510-689F-CAC5-8D49D7C6D7A9}"/>
              </a:ext>
            </a:extLst>
          </p:cNvPr>
          <p:cNvSpPr>
            <a:spLocks noGrp="1"/>
          </p:cNvSpPr>
          <p:nvPr>
            <p:ph type="title"/>
          </p:nvPr>
        </p:nvSpPr>
        <p:spPr>
          <a:xfrm>
            <a:off x="839788" y="457200"/>
            <a:ext cx="3932237" cy="1600200"/>
          </a:xfrm>
        </p:spPr>
        <p:txBody>
          <a:bodyPr anchor="b">
            <a:normAutofit/>
          </a:bodyPr>
          <a:lstStyle/>
          <a:p>
            <a:r>
              <a:rPr lang="en-US"/>
              <a:t>Results</a:t>
            </a:r>
          </a:p>
        </p:txBody>
      </p:sp>
      <p:pic>
        <p:nvPicPr>
          <p:cNvPr id="5" name="Picture 4">
            <a:extLst>
              <a:ext uri="{FF2B5EF4-FFF2-40B4-BE49-F238E27FC236}">
                <a16:creationId xmlns:a16="http://schemas.microsoft.com/office/drawing/2014/main" id="{865DE402-14A1-F6E1-23F1-46060FAA94EE}"/>
              </a:ext>
            </a:extLst>
          </p:cNvPr>
          <p:cNvPicPr>
            <a:picLocks noChangeAspect="1"/>
          </p:cNvPicPr>
          <p:nvPr/>
        </p:nvPicPr>
        <p:blipFill>
          <a:blip r:embed="rId2"/>
          <a:srcRect r="4697" b="-3"/>
          <a:stretch>
            <a:fillRect/>
          </a:stretch>
        </p:blipFill>
        <p:spPr>
          <a:xfrm>
            <a:off x="5183188" y="987425"/>
            <a:ext cx="6172200" cy="4873625"/>
          </a:xfrm>
          <a:prstGeom prst="rect">
            <a:avLst/>
          </a:prstGeom>
          <a:noFill/>
        </p:spPr>
      </p:pic>
      <p:sp>
        <p:nvSpPr>
          <p:cNvPr id="3" name="Content Placeholder 2">
            <a:extLst>
              <a:ext uri="{FF2B5EF4-FFF2-40B4-BE49-F238E27FC236}">
                <a16:creationId xmlns:a16="http://schemas.microsoft.com/office/drawing/2014/main" id="{F8FBB63B-BDD2-F922-5912-318F16F5686F}"/>
              </a:ext>
            </a:extLst>
          </p:cNvPr>
          <p:cNvSpPr>
            <a:spLocks noGrp="1"/>
          </p:cNvSpPr>
          <p:nvPr>
            <p:ph type="body" sz="half" idx="2"/>
          </p:nvPr>
        </p:nvSpPr>
        <p:spPr>
          <a:xfrm>
            <a:off x="839788" y="2057400"/>
            <a:ext cx="3932237" cy="3811588"/>
          </a:xfrm>
        </p:spPr>
        <p:txBody>
          <a:bodyPr vert="horz" lIns="91440" tIns="45720" rIns="91440" bIns="45720" rtlCol="0" anchor="t">
            <a:normAutofit/>
          </a:bodyPr>
          <a:lstStyle/>
          <a:p>
            <a:pPr marL="285750" indent="-285750">
              <a:buChar char="•"/>
            </a:pPr>
            <a:r>
              <a:rPr lang="en-US"/>
              <a:t>Results for both models were weak</a:t>
            </a:r>
          </a:p>
          <a:p>
            <a:pPr lvl="1">
              <a:buFont typeface="Courier New" panose="020B0604020202020204" pitchFamily="34" charset="0"/>
              <a:buChar char="o"/>
            </a:pPr>
            <a:r>
              <a:rPr lang="en-US" sz="1600"/>
              <a:t>136 </a:t>
            </a:r>
            <a:r>
              <a:rPr lang="en-US" sz="1600" dirty="0"/>
              <a:t>low retention </a:t>
            </a:r>
            <a:r>
              <a:rPr lang="en-US" sz="1600"/>
              <a:t>shows were incorrectly classified as 70% or higher.</a:t>
            </a:r>
          </a:p>
          <a:p>
            <a:pPr lvl="1">
              <a:buFont typeface="Courier New" panose="020B0604020202020204" pitchFamily="34" charset="0"/>
              <a:buChar char="o"/>
            </a:pPr>
            <a:r>
              <a:rPr lang="en-US" sz="1600"/>
              <a:t>Regression did not beat the simple median-retention guess either. </a:t>
            </a:r>
          </a:p>
          <a:p>
            <a:pPr lvl="1">
              <a:buFont typeface="Courier New" panose="020B0604020202020204" pitchFamily="34" charset="0"/>
              <a:buChar char="o"/>
            </a:pPr>
            <a:r>
              <a:rPr lang="en-US" sz="1600"/>
              <a:t>IMDb average rating and vote count alone did not reliably predict our retention metric</a:t>
            </a:r>
          </a:p>
          <a:p>
            <a:pPr>
              <a:buFont typeface="Arial" panose="020B0604020202020204" pitchFamily="34" charset="0"/>
              <a:buChar char="•"/>
            </a:pPr>
            <a:r>
              <a:rPr lang="en-US" sz="1800"/>
              <a:t>The </a:t>
            </a:r>
            <a:r>
              <a:rPr lang="en-US" sz="1800" dirty="0"/>
              <a:t>implementation wor</a:t>
            </a:r>
            <a:r>
              <a:rPr lang="en-US" sz="1800"/>
              <a:t>ked, but stronger predictors are needed. </a:t>
            </a:r>
            <a:endParaRPr lang="en-US"/>
          </a:p>
          <a:p>
            <a:pPr lvl="1">
              <a:buFont typeface="Courier New" panose="020B0604020202020204" pitchFamily="34" charset="0"/>
              <a:buChar char="o"/>
            </a:pPr>
            <a:endParaRPr lang="en-US" sz="1600"/>
          </a:p>
        </p:txBody>
      </p:sp>
      <p:sp>
        <p:nvSpPr>
          <p:cNvPr id="10" name="Date Placeholder 4">
            <a:extLst>
              <a:ext uri="{FF2B5EF4-FFF2-40B4-BE49-F238E27FC236}">
                <a16:creationId xmlns:a16="http://schemas.microsoft.com/office/drawing/2014/main" id="{8B203F46-7FB4-38B8-7435-D12A4FDB7DE3}"/>
              </a:ext>
            </a:extLst>
          </p:cNvPr>
          <p:cNvSpPr>
            <a:spLocks noGrp="1"/>
          </p:cNvSpPr>
          <p:nvPr>
            <p:ph type="dt" sz="half" idx="10"/>
          </p:nvPr>
        </p:nvSpPr>
        <p:spPr>
          <a:xfrm>
            <a:off x="10058400" y="6029868"/>
            <a:ext cx="1182686" cy="365125"/>
          </a:xfrm>
        </p:spPr>
        <p:txBody>
          <a:bodyPr/>
          <a:lstStyle/>
          <a:p>
            <a:pPr>
              <a:spcAft>
                <a:spcPts val="600"/>
              </a:spcAft>
            </a:pPr>
            <a:fld id="{00ED4FE5-23ED-403B-9F91-09EDE88BD5F8}" type="datetime1">
              <a:rPr lang="en-US" smtClean="0"/>
              <a:pPr>
                <a:spcAft>
                  <a:spcPts val="600"/>
                </a:spcAft>
              </a:pPr>
              <a:t>8/15/2026</a:t>
            </a:fld>
            <a:endParaRPr lang="en-US"/>
          </a:p>
        </p:txBody>
      </p:sp>
      <p:sp>
        <p:nvSpPr>
          <p:cNvPr id="14" name="Slide Number Placeholder 6">
            <a:extLst>
              <a:ext uri="{FF2B5EF4-FFF2-40B4-BE49-F238E27FC236}">
                <a16:creationId xmlns:a16="http://schemas.microsoft.com/office/drawing/2014/main" id="{DCBB6678-2654-B5BA-965A-6E2A7371BECA}"/>
              </a:ext>
            </a:extLst>
          </p:cNvPr>
          <p:cNvSpPr>
            <a:spLocks noGrp="1"/>
          </p:cNvSpPr>
          <p:nvPr>
            <p:ph type="sldNum" sz="quarter" idx="12"/>
          </p:nvPr>
        </p:nvSpPr>
        <p:spPr>
          <a:xfrm>
            <a:off x="11233434" y="6029868"/>
            <a:ext cx="429372" cy="365125"/>
          </a:xfrm>
        </p:spPr>
        <p:txBody>
          <a:bodyPr/>
          <a:lstStyle/>
          <a:p>
            <a:pPr>
              <a:spcAft>
                <a:spcPts val="600"/>
              </a:spcAft>
            </a:pPr>
            <a:fld id="{330EA680-D336-4FF7-8B7A-9848BB0A1C32}" type="slidenum">
              <a:rPr lang="en-US" smtClean="0"/>
              <a:pPr>
                <a:spcAft>
                  <a:spcPts val="600"/>
                </a:spcAft>
              </a:pPr>
              <a:t>16</a:t>
            </a:fld>
            <a:endParaRPr lang="en-US"/>
          </a:p>
        </p:txBody>
      </p:sp>
    </p:spTree>
    <p:extLst>
      <p:ext uri="{BB962C8B-B14F-4D97-AF65-F5344CB8AC3E}">
        <p14:creationId xmlns:p14="http://schemas.microsoft.com/office/powerpoint/2010/main" val="12059889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EEE6E-9471-25AB-6E9C-86CE13589EE1}"/>
              </a:ext>
            </a:extLst>
          </p:cNvPr>
          <p:cNvSpPr>
            <a:spLocks noGrp="1"/>
          </p:cNvSpPr>
          <p:nvPr>
            <p:ph type="title"/>
          </p:nvPr>
        </p:nvSpPr>
        <p:spPr/>
        <p:txBody>
          <a:bodyPr/>
          <a:lstStyle/>
          <a:p>
            <a:r>
              <a:rPr lang="en-US"/>
              <a:t>Limitations and methods for improvement</a:t>
            </a:r>
          </a:p>
        </p:txBody>
      </p:sp>
      <p:sp>
        <p:nvSpPr>
          <p:cNvPr id="3" name="Content Placeholder 2">
            <a:extLst>
              <a:ext uri="{FF2B5EF4-FFF2-40B4-BE49-F238E27FC236}">
                <a16:creationId xmlns:a16="http://schemas.microsoft.com/office/drawing/2014/main" id="{59EADE00-2637-D738-FD15-D7602DA50FC5}"/>
              </a:ext>
            </a:extLst>
          </p:cNvPr>
          <p:cNvSpPr>
            <a:spLocks noGrp="1"/>
          </p:cNvSpPr>
          <p:nvPr>
            <p:ph idx="1"/>
          </p:nvPr>
        </p:nvSpPr>
        <p:spPr/>
        <p:txBody>
          <a:bodyPr vert="horz" lIns="91440" tIns="45720" rIns="91440" bIns="45720" rtlCol="0" anchor="t">
            <a:normAutofit/>
          </a:bodyPr>
          <a:lstStyle/>
          <a:p>
            <a:r>
              <a:rPr lang="en-US"/>
              <a:t>Comparing equal release windows</a:t>
            </a:r>
          </a:p>
          <a:p>
            <a:pPr lvl="1">
              <a:buFont typeface="Courier New" panose="020B0604020202020204" pitchFamily="34" charset="0"/>
              <a:buChar char="o"/>
            </a:pPr>
            <a:r>
              <a:rPr lang="en-US"/>
              <a:t>Alternatively knowing exact release date </a:t>
            </a:r>
          </a:p>
          <a:p>
            <a:pPr lvl="2">
              <a:buFont typeface="Wingdings" panose="020B0604020202020204" pitchFamily="34" charset="0"/>
              <a:buChar char="§"/>
            </a:pPr>
            <a:r>
              <a:rPr lang="en-US"/>
              <a:t>We had to adjust retention metric, and we couldn't use season gaps as a predictor</a:t>
            </a:r>
          </a:p>
          <a:p>
            <a:r>
              <a:rPr lang="en-US"/>
              <a:t>Ideally having data beyond just 2023 to 2026</a:t>
            </a:r>
            <a:endParaRPr lang="en-US">
              <a:solidFill>
                <a:srgbClr val="131313"/>
              </a:solidFill>
            </a:endParaRPr>
          </a:p>
          <a:p>
            <a:r>
              <a:rPr lang="en-US"/>
              <a:t>Data for series that debuted outside of Netflix would go a long way</a:t>
            </a:r>
          </a:p>
          <a:p>
            <a:pPr lvl="1">
              <a:buFont typeface="Courier New" panose="020B0604020202020204" pitchFamily="34" charset="0"/>
              <a:buChar char="o"/>
            </a:pPr>
            <a:r>
              <a:rPr lang="en-US"/>
              <a:t>Many series on Netflix's report didn't launch there so there's a lot of information that we ideally wouldn't use</a:t>
            </a:r>
          </a:p>
          <a:p>
            <a:r>
              <a:rPr lang="en-US"/>
              <a:t>More predictors</a:t>
            </a:r>
          </a:p>
          <a:p>
            <a:pPr lvl="1">
              <a:buFont typeface="Courier New" panose="020B0604020202020204" pitchFamily="34" charset="0"/>
              <a:buChar char="o"/>
            </a:pPr>
            <a:r>
              <a:rPr lang="en-US"/>
              <a:t>Season specific cast continuity instead of series specific cast data</a:t>
            </a:r>
          </a:p>
          <a:p>
            <a:pPr lvl="2">
              <a:buFont typeface="Wingdings" panose="020B0604020202020204" pitchFamily="34" charset="0"/>
              <a:buChar char="§"/>
            </a:pPr>
            <a:r>
              <a:rPr lang="en-US"/>
              <a:t>Maybe should have focused on director, producer, and/or primary actors as opposed overall casting changes</a:t>
            </a:r>
          </a:p>
          <a:p>
            <a:r>
              <a:rPr lang="en-US"/>
              <a:t>The current models establish a decent baseline however we need more season specific data to improve the output</a:t>
            </a:r>
          </a:p>
          <a:p>
            <a:pPr lvl="1">
              <a:buFont typeface="Courier New" panose="020B0604020202020204" pitchFamily="34" charset="0"/>
              <a:buChar char="o"/>
            </a:pPr>
            <a:endParaRPr lang="en-US"/>
          </a:p>
          <a:p>
            <a:pPr lvl="1">
              <a:buFont typeface="Courier New" panose="020B0604020202020204" pitchFamily="34" charset="0"/>
              <a:buChar char="o"/>
            </a:pPr>
            <a:endParaRPr lang="en-US"/>
          </a:p>
        </p:txBody>
      </p:sp>
      <p:sp>
        <p:nvSpPr>
          <p:cNvPr id="5" name="Date Placeholder 4">
            <a:extLst>
              <a:ext uri="{FF2B5EF4-FFF2-40B4-BE49-F238E27FC236}">
                <a16:creationId xmlns:a16="http://schemas.microsoft.com/office/drawing/2014/main" id="{72934032-4F6F-16CB-2A42-F2EA93B1E024}"/>
              </a:ext>
            </a:extLst>
          </p:cNvPr>
          <p:cNvSpPr>
            <a:spLocks noGrp="1"/>
          </p:cNvSpPr>
          <p:nvPr>
            <p:ph type="dt" sz="half" idx="10"/>
          </p:nvPr>
        </p:nvSpPr>
        <p:spPr/>
        <p:txBody>
          <a:bodyPr/>
          <a:lstStyle/>
          <a:p>
            <a:fld id="{66218CF4-82F3-4FC3-9387-5754F0B8778E}" type="datetime1">
              <a:rPr lang="en-US"/>
              <a:t>8/15/2026</a:t>
            </a:fld>
            <a:endParaRPr lang="en-US"/>
          </a:p>
        </p:txBody>
      </p:sp>
      <p:sp>
        <p:nvSpPr>
          <p:cNvPr id="7" name="Slide Number Placeholder 6">
            <a:extLst>
              <a:ext uri="{FF2B5EF4-FFF2-40B4-BE49-F238E27FC236}">
                <a16:creationId xmlns:a16="http://schemas.microsoft.com/office/drawing/2014/main" id="{38D68618-1379-2004-DA5A-D82C2FC27910}"/>
              </a:ext>
            </a:extLst>
          </p:cNvPr>
          <p:cNvSpPr>
            <a:spLocks noGrp="1"/>
          </p:cNvSpPr>
          <p:nvPr>
            <p:ph type="sldNum" sz="quarter" idx="12"/>
          </p:nvPr>
        </p:nvSpPr>
        <p:spPr/>
        <p:txBody>
          <a:bodyPr/>
          <a:lstStyle/>
          <a:p>
            <a:fld id="{330EA680-D336-4FF7-8B7A-9848BB0A1C32}" type="slidenum">
              <a:rPr lang="en-US" smtClean="0"/>
              <a:t>17</a:t>
            </a:fld>
            <a:endParaRPr lang="en-US"/>
          </a:p>
        </p:txBody>
      </p:sp>
    </p:spTree>
    <p:extLst>
      <p:ext uri="{BB962C8B-B14F-4D97-AF65-F5344CB8AC3E}">
        <p14:creationId xmlns:p14="http://schemas.microsoft.com/office/powerpoint/2010/main" val="8323859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325FC-93A5-0E09-4DF7-484261D5189C}"/>
              </a:ext>
            </a:extLst>
          </p:cNvPr>
          <p:cNvSpPr>
            <a:spLocks noGrp="1"/>
          </p:cNvSpPr>
          <p:nvPr>
            <p:ph type="title"/>
          </p:nvPr>
        </p:nvSpPr>
        <p:spPr>
          <a:xfrm>
            <a:off x="925539" y="160754"/>
            <a:ext cx="10515600" cy="2852737"/>
          </a:xfrm>
        </p:spPr>
        <p:txBody>
          <a:bodyPr anchor="b">
            <a:normAutofit/>
          </a:bodyPr>
          <a:lstStyle/>
          <a:p>
            <a:r>
              <a:rPr lang="en-US" dirty="0"/>
              <a:t>Thank you</a:t>
            </a:r>
          </a:p>
        </p:txBody>
      </p:sp>
      <p:sp>
        <p:nvSpPr>
          <p:cNvPr id="11" name="Text Placeholder 2">
            <a:extLst>
              <a:ext uri="{FF2B5EF4-FFF2-40B4-BE49-F238E27FC236}">
                <a16:creationId xmlns:a16="http://schemas.microsoft.com/office/drawing/2014/main" id="{30E4EB11-7E8B-B801-4610-AF008E56221B}"/>
              </a:ext>
            </a:extLst>
          </p:cNvPr>
          <p:cNvSpPr>
            <a:spLocks noGrp="1"/>
          </p:cNvSpPr>
          <p:nvPr>
            <p:ph type="body" idx="1"/>
          </p:nvPr>
        </p:nvSpPr>
        <p:spPr>
          <a:xfrm>
            <a:off x="838096" y="3115430"/>
            <a:ext cx="10515600" cy="2012350"/>
          </a:xfrm>
        </p:spPr>
        <p:txBody>
          <a:bodyPr vert="horz" lIns="91440" tIns="45720" rIns="91440" bIns="45720" rtlCol="0" anchor="t">
            <a:normAutofit/>
          </a:bodyPr>
          <a:lstStyle/>
          <a:p>
            <a:r>
              <a:rPr lang="en-US"/>
              <a:t>Data Manager – Shrirang</a:t>
            </a:r>
            <a:endParaRPr lang="en-US" dirty="0"/>
          </a:p>
          <a:p>
            <a:r>
              <a:rPr lang="en-US" dirty="0"/>
              <a:t>Multiple Linear Regression Modeling and </a:t>
            </a:r>
            <a:r>
              <a:rPr lang="en-US"/>
              <a:t>Evaluation  - Aatir</a:t>
            </a:r>
          </a:p>
          <a:p>
            <a:r>
              <a:rPr lang="en-US" dirty="0"/>
              <a:t>Decision Tree </a:t>
            </a:r>
            <a:r>
              <a:rPr lang="en-US"/>
              <a:t>Evaluation Modeling and Evaluation  -  Temitope</a:t>
            </a:r>
          </a:p>
          <a:p>
            <a:endParaRPr lang="en-US" dirty="0"/>
          </a:p>
        </p:txBody>
      </p:sp>
      <p:sp>
        <p:nvSpPr>
          <p:cNvPr id="5" name="Date Placeholder 4">
            <a:extLst>
              <a:ext uri="{FF2B5EF4-FFF2-40B4-BE49-F238E27FC236}">
                <a16:creationId xmlns:a16="http://schemas.microsoft.com/office/drawing/2014/main" id="{C38D1F3C-C8A0-5B41-8CA8-3522F7218387}"/>
              </a:ext>
            </a:extLst>
          </p:cNvPr>
          <p:cNvSpPr>
            <a:spLocks noGrp="1"/>
          </p:cNvSpPr>
          <p:nvPr>
            <p:ph type="dt" sz="half" idx="10"/>
          </p:nvPr>
        </p:nvSpPr>
        <p:spPr>
          <a:xfrm>
            <a:off x="10058400" y="6029868"/>
            <a:ext cx="1182686" cy="365125"/>
          </a:xfrm>
        </p:spPr>
        <p:txBody>
          <a:bodyPr anchor="ctr">
            <a:normAutofit/>
          </a:bodyPr>
          <a:lstStyle/>
          <a:p>
            <a:pPr>
              <a:spcAft>
                <a:spcPts val="600"/>
              </a:spcAft>
            </a:pPr>
            <a:fld id="{03AE90E1-D685-403E-AEE8-EA14576E67AB}" type="datetime1">
              <a:rPr lang="en-US"/>
              <a:pPr>
                <a:spcAft>
                  <a:spcPts val="600"/>
                </a:spcAft>
              </a:pPr>
              <a:t>8/15/2026</a:t>
            </a:fld>
            <a:endParaRPr lang="en-US"/>
          </a:p>
        </p:txBody>
      </p:sp>
      <p:sp>
        <p:nvSpPr>
          <p:cNvPr id="4" name="Footer Placeholder 3">
            <a:extLst>
              <a:ext uri="{FF2B5EF4-FFF2-40B4-BE49-F238E27FC236}">
                <a16:creationId xmlns:a16="http://schemas.microsoft.com/office/drawing/2014/main" id="{CFD2D52A-37B2-E8B8-2211-A72EC5EF1FD0}"/>
              </a:ext>
            </a:extLst>
          </p:cNvPr>
          <p:cNvSpPr>
            <a:spLocks noGrp="1"/>
          </p:cNvSpPr>
          <p:nvPr>
            <p:ph type="ftr" sz="quarter" idx="11"/>
          </p:nvPr>
        </p:nvSpPr>
        <p:spPr>
          <a:xfrm>
            <a:off x="605430" y="6029868"/>
            <a:ext cx="1911096" cy="365125"/>
          </a:xfrm>
        </p:spPr>
        <p:txBody>
          <a:bodyPr anchor="ctr">
            <a:normAutofit/>
          </a:bodyPr>
          <a:lstStyle/>
          <a:p>
            <a:pPr>
              <a:lnSpc>
                <a:spcPct val="90000"/>
              </a:lnSpc>
              <a:spcAft>
                <a:spcPts val="600"/>
              </a:spcAft>
            </a:pPr>
            <a:r>
              <a:rPr lang="en-US" sz="700"/>
              <a:t>
              </a:t>
            </a:r>
          </a:p>
        </p:txBody>
      </p:sp>
      <p:sp>
        <p:nvSpPr>
          <p:cNvPr id="6" name="Slide Number Placeholder 5">
            <a:extLst>
              <a:ext uri="{FF2B5EF4-FFF2-40B4-BE49-F238E27FC236}">
                <a16:creationId xmlns:a16="http://schemas.microsoft.com/office/drawing/2014/main" id="{41C37A24-EA38-AE4D-B535-086A21A4DF52}"/>
              </a:ext>
            </a:extLst>
          </p:cNvPr>
          <p:cNvSpPr>
            <a:spLocks noGrp="1"/>
          </p:cNvSpPr>
          <p:nvPr>
            <p:ph type="sldNum" sz="quarter" idx="12"/>
          </p:nvPr>
        </p:nvSpPr>
        <p:spPr>
          <a:xfrm>
            <a:off x="11233434" y="6029868"/>
            <a:ext cx="429372" cy="365125"/>
          </a:xfrm>
        </p:spPr>
        <p:txBody>
          <a:bodyPr anchor="ctr">
            <a:normAutofit/>
          </a:bodyPr>
          <a:lstStyle/>
          <a:p>
            <a:pPr>
              <a:spcAft>
                <a:spcPts val="600"/>
              </a:spcAft>
            </a:pPr>
            <a:fld id="{27F8DDA4-3B80-4E8A-A8F5-521F73BF9127}" type="slidenum">
              <a:rPr lang="en-US" dirty="0"/>
              <a:pPr>
                <a:spcAft>
                  <a:spcPts val="600"/>
                </a:spcAft>
              </a:pPr>
              <a:t>18</a:t>
            </a:fld>
            <a:endParaRPr lang="en-US"/>
          </a:p>
        </p:txBody>
      </p:sp>
    </p:spTree>
    <p:extLst>
      <p:ext uri="{BB962C8B-B14F-4D97-AF65-F5344CB8AC3E}">
        <p14:creationId xmlns:p14="http://schemas.microsoft.com/office/powerpoint/2010/main" val="3052986146"/>
      </p:ext>
    </p:extLst>
  </p:cSld>
  <p:clrMapOvr>
    <a:masterClrMapping/>
  </p:clrMapOvr>
</p:sld>
</file>

<file path=ppt/theme/theme1.xml><?xml version="1.0" encoding="utf-8"?>
<a:theme xmlns:a="http://schemas.openxmlformats.org/drawingml/2006/main" name="Orange Experience">
  <a:themeElements>
    <a:clrScheme name="Orange Experience">
      <a:dk1>
        <a:srgbClr val="131313"/>
      </a:dk1>
      <a:lt1>
        <a:sysClr val="window" lastClr="FFFFFF"/>
      </a:lt1>
      <a:dk2>
        <a:srgbClr val="444742"/>
      </a:dk2>
      <a:lt2>
        <a:srgbClr val="EDECE9"/>
      </a:lt2>
      <a:accent1>
        <a:srgbClr val="ED6845"/>
      </a:accent1>
      <a:accent2>
        <a:srgbClr val="F48A56"/>
      </a:accent2>
      <a:accent3>
        <a:srgbClr val="9FA295"/>
      </a:accent3>
      <a:accent4>
        <a:srgbClr val="5B6E74"/>
      </a:accent4>
      <a:accent5>
        <a:srgbClr val="6E7868"/>
      </a:accent5>
      <a:accent6>
        <a:srgbClr val="A1AAAA"/>
      </a:accent6>
      <a:hlink>
        <a:srgbClr val="F05814"/>
      </a:hlink>
      <a:folHlink>
        <a:srgbClr val="E99401"/>
      </a:folHlink>
    </a:clrScheme>
    <a:fontScheme name="Orange Experience">
      <a:majorFont>
        <a:latin typeface="Oswald SemiBold"/>
        <a:ea typeface=""/>
        <a:cs typeface=""/>
      </a:majorFont>
      <a:minorFont>
        <a:latin typeface="Univers Condensed Light"/>
        <a:ea typeface=""/>
        <a:cs typeface=""/>
      </a:minorFont>
    </a:fontScheme>
    <a:fmtScheme name="Orange Experien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range Experience" id="{3FBD020F-64D3-42BF-A2BA-FB7237EC65A2}" vid="{0A40F0BF-A9BE-440A-B017-9F6336E8514F}"/>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1285</Words>
  <Application>Microsoft Office PowerPoint</Application>
  <PresentationFormat>Widescreen</PresentationFormat>
  <Paragraphs>218</Paragraphs>
  <Slides>18</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Aptos</vt:lpstr>
      <vt:lpstr>Aptos Display</vt:lpstr>
      <vt:lpstr>Aptos Narrow</vt:lpstr>
      <vt:lpstr>Arial</vt:lpstr>
      <vt:lpstr>Courier New</vt:lpstr>
      <vt:lpstr>Oswald SemiBold</vt:lpstr>
      <vt:lpstr>Univers Condensed Light</vt:lpstr>
      <vt:lpstr>Wingdings</vt:lpstr>
      <vt:lpstr>Orange Experience</vt:lpstr>
      <vt:lpstr>Retention Rate for TV Shows on Netflix</vt:lpstr>
      <vt:lpstr>Why This Matters</vt:lpstr>
      <vt:lpstr>Project Scope</vt:lpstr>
      <vt:lpstr>Data Sources</vt:lpstr>
      <vt:lpstr>Data Exploration</vt:lpstr>
      <vt:lpstr>Exploratory Data Analysis</vt:lpstr>
      <vt:lpstr>Correlation Analysis</vt:lpstr>
      <vt:lpstr>Feature Correlation </vt:lpstr>
      <vt:lpstr>Relationship between Viewership change and Genre</vt:lpstr>
      <vt:lpstr>Modeling and Evaluation</vt:lpstr>
      <vt:lpstr>Workflow</vt:lpstr>
      <vt:lpstr>Planned Implementation vs Final Implementation</vt:lpstr>
      <vt:lpstr>Prediction and Classification   </vt:lpstr>
      <vt:lpstr>Multiple Linear Regression </vt:lpstr>
      <vt:lpstr>Decision Tree </vt:lpstr>
      <vt:lpstr>Results</vt:lpstr>
      <vt:lpstr>Limitations and methods for improvement</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Shrirang Bhadgaonkar</dc:creator>
  <cp:lastModifiedBy>Shrirang Annasaheb Bhadgaonkar</cp:lastModifiedBy>
  <cp:revision>1</cp:revision>
  <dcterms:created xsi:type="dcterms:W3CDTF">2026-08-02T08:08:51Z</dcterms:created>
  <dcterms:modified xsi:type="dcterms:W3CDTF">2026-08-15T13:44:25Z</dcterms:modified>
</cp:coreProperties>
</file>